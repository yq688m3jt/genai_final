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ee25fa2dcd3469c" /><Relationship Type="http://schemas.openxmlformats.org/officeDocument/2006/relationships/extended-properties" Target="/docProps/app.xml" Id="Ra6c5cc80d00a466d" /><Relationship Type="http://schemas.openxmlformats.org/officeDocument/2006/relationships/officeDocument" Target="/ppt/presentation.xml" Id="R2c431f021358488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af3b76fcf25482f"/>
  </p:sldMasterIdLst>
  <p:notesMasterIdLst>
    <p:notesMasterId xmlns:r="http://schemas.openxmlformats.org/officeDocument/2006/relationships" r:id="R34b64ec6f1054dde"/>
  </p:notesMasterIdLst>
  <p:sldIdLst>
    <p:sldId xmlns:r="http://schemas.openxmlformats.org/officeDocument/2006/relationships" id="256" r:id="R69ec8c8d93a243a1"/>
    <p:sldId xmlns:r="http://schemas.openxmlformats.org/officeDocument/2006/relationships" id="257" r:id="R46b68bf3d5de4f02"/>
    <p:sldId xmlns:r="http://schemas.openxmlformats.org/officeDocument/2006/relationships" id="258" r:id="R2485c6ec249045c6"/>
    <p:sldId xmlns:r="http://schemas.openxmlformats.org/officeDocument/2006/relationships" id="259" r:id="R22fc314cc5274e27"/>
    <p:sldId xmlns:r="http://schemas.openxmlformats.org/officeDocument/2006/relationships" id="260" r:id="R2d03f7430c3c43cb"/>
    <p:sldId xmlns:r="http://schemas.openxmlformats.org/officeDocument/2006/relationships" id="261" r:id="Rab9ac60ef1994e61"/>
    <p:sldId xmlns:r="http://schemas.openxmlformats.org/officeDocument/2006/relationships" id="262" r:id="R5825f9e650e8495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f3b76fcf25482f" /><Relationship Type="http://schemas.openxmlformats.org/officeDocument/2006/relationships/theme" Target="/ppt/theme/theme1.xml" Id="R1e8793ceb4bc4535" /><Relationship Type="http://schemas.openxmlformats.org/officeDocument/2006/relationships/notesMaster" Target="/ppt/notesMasters/notesMaster1.xml" Id="R34b64ec6f1054dde" /><Relationship Type="http://schemas.openxmlformats.org/officeDocument/2006/relationships/presProps" Target="/ppt/presProps.xml" Id="Rc223bd78ea7b40be" /><Relationship Type="http://schemas.openxmlformats.org/officeDocument/2006/relationships/viewProps" Target="/ppt/viewProps.xml" Id="Rdf285559c3384275" /><Relationship Type="http://schemas.openxmlformats.org/officeDocument/2006/relationships/tableStyles" Target="/ppt/tableStyles.xml" Id="R82da8bc20fe74b50" /><Relationship Type="http://schemas.openxmlformats.org/officeDocument/2006/relationships/slide" Target="/ppt/slides/slide1.xml" Id="R69ec8c8d93a243a1" /><Relationship Type="http://schemas.openxmlformats.org/officeDocument/2006/relationships/slide" Target="/ppt/slides/slide2.xml" Id="R46b68bf3d5de4f02" /><Relationship Type="http://schemas.openxmlformats.org/officeDocument/2006/relationships/slide" Target="/ppt/slides/slide3.xml" Id="R2485c6ec249045c6" /><Relationship Type="http://schemas.openxmlformats.org/officeDocument/2006/relationships/slide" Target="/ppt/slides/slide4.xml" Id="R22fc314cc5274e27" /><Relationship Type="http://schemas.openxmlformats.org/officeDocument/2006/relationships/slide" Target="/ppt/slides/slide5.xml" Id="R2d03f7430c3c43cb" /><Relationship Type="http://schemas.openxmlformats.org/officeDocument/2006/relationships/slide" Target="/ppt/slides/slide6.xml" Id="Rab9ac60ef1994e61" /><Relationship Type="http://schemas.openxmlformats.org/officeDocument/2006/relationships/slide" Target="/ppt/slides/slide7.xml" Id="R5825f9e650e8495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b28f3d95c6184e3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305337382884cc3" /><Relationship Type="http://schemas.openxmlformats.org/officeDocument/2006/relationships/notesMaster" Target="/ppt/notesMasters/notesMaster1.xml" Id="Rf72e74c2f9214f7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0f81a9c2d03497c" /><Relationship Type="http://schemas.openxmlformats.org/officeDocument/2006/relationships/notesMaster" Target="/ppt/notesMasters/notesMaster1.xml" Id="Rb540a04d70eb4dc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c7e7a22fcc148a8" /><Relationship Type="http://schemas.openxmlformats.org/officeDocument/2006/relationships/notesMaster" Target="/ppt/notesMasters/notesMaster1.xml" Id="Rb30535853f97486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a44b2f2808c4f7c" /><Relationship Type="http://schemas.openxmlformats.org/officeDocument/2006/relationships/notesMaster" Target="/ppt/notesMasters/notesMaster1.xml" Id="Re318e5c3ede14f8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6ae62e813674b73" /><Relationship Type="http://schemas.openxmlformats.org/officeDocument/2006/relationships/notesMaster" Target="/ppt/notesMasters/notesMaster1.xml" Id="R3b34bf9c08ed49d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c788a2b13bc41d6" /><Relationship Type="http://schemas.openxmlformats.org/officeDocument/2006/relationships/notesMaster" Target="/ppt/notesMasters/notesMaster1.xml" Id="R0f3a7a55f7d8465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718cce41af740da" /><Relationship Type="http://schemas.openxmlformats.org/officeDocument/2006/relationships/notesMaster" Target="/ppt/notesMasters/notesMaster1.xml" Id="Rd69446fe8347444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06beec7a0b4408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962bfd3fbe94405c" /><Relationship Type="http://schemas.openxmlformats.org/officeDocument/2006/relationships/slideLayout" Target="/ppt/slideLayouts/slideLayout2.xml" Id="Rcc8b9e6e978d456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c8b9e6e978d456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03d8c706dd141a1" /><Relationship Type="http://schemas.openxmlformats.org/officeDocument/2006/relationships/notesSlide" Target="/ppt/notesSlides/notesSlide1.xml" Id="Rf26411f8127649a3" /><Relationship Type="http://schemas.openxmlformats.org/officeDocument/2006/relationships/hyperlink" Target="https://raw.githack.com/yq688m3JT/genAI_final/main/docs/demo.html" TargetMode="External" Id="rIdSynthAMLDemo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7f924a7d81d4c67" /><Relationship Type="http://schemas.openxmlformats.org/officeDocument/2006/relationships/notesSlide" Target="/ppt/notesSlides/notesSlide2.xml" Id="Ref5efe0bbe4a400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36b6a6ffdce4da6" /><Relationship Type="http://schemas.openxmlformats.org/officeDocument/2006/relationships/notesSlide" Target="/ppt/notesSlides/notesSlide3.xml" Id="Ra7610f4006e44f1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adccb5c6e3741c7" /><Relationship Type="http://schemas.openxmlformats.org/officeDocument/2006/relationships/notesSlide" Target="/ppt/notesSlides/notesSlide4.xml" Id="R188e4aacb5a64f9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509340e05d04d65" /><Relationship Type="http://schemas.openxmlformats.org/officeDocument/2006/relationships/image" Target="/ppt/media/image.png" Id="Rf745ef44a0c048a1" /><Relationship Type="http://schemas.openxmlformats.org/officeDocument/2006/relationships/notesSlide" Target="/ppt/notesSlides/notesSlide5.xml" Id="R78150751c7ea421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f45b7abf4804818" /><Relationship Type="http://schemas.openxmlformats.org/officeDocument/2006/relationships/image" Target="/ppt/media/image2.png" Id="R4d778113298c4041" /><Relationship Type="http://schemas.openxmlformats.org/officeDocument/2006/relationships/notesSlide" Target="/ppt/notesSlides/notesSlide6.xml" Id="R481803257acd40e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2d23c8c810c4cd4" /><Relationship Type="http://schemas.openxmlformats.org/officeDocument/2006/relationships/image" Target="/ppt/media/image3.png" Id="R1fe24bdea7f84634" /><Relationship Type="http://schemas.openxmlformats.org/officeDocument/2006/relationships/notesSlide" Target="/ppt/notesSlides/notesSlide7.xml" Id="R40104f2e8003469c" /><Relationship Type="http://schemas.openxmlformats.org/officeDocument/2006/relationships/hyperlink" Target="https://raw.githack.com/yq688m3JT/genAI_final/main/docs/demo.html" TargetMode="External" Id="rIdSynthAMLDemo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0BF3C0E-D631-4995-8F67-287F7D258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07F877-4227-456E-B5A6-4D119488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4E92CF-E436-46E6-B071-B6BC50E0B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435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4E7D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4E7DD"/>
                </a:solidFill>
                <a:latin typeface="Aptos"/>
                <a:ea typeface="Aptos"/>
                <a:cs typeface="Aptos"/>
              </a:rPr>
              <a:t>FINAL PROJECT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70C72F-6737-436B-9D3D-03B2E2351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609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48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SynthAML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CF7C04-A14D-4653-8E32-C0B28A5DA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7429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D4E7DD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D4E7DD"/>
                </a:solidFill>
                <a:latin typeface="Aptos"/>
                <a:ea typeface="Aptos"/>
                <a:cs typeface="Aptos"/>
              </a:rPr>
              <a:t>A commercial-style GenAI workbench for turning AML typology warnings into synthetic transaction test data.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6DC522-0D3A-4EAF-89C2-C7D8D660D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62400"/>
            <a:ext cx="704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4D6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666F64-7C58-458C-A68A-180D5C124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2435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9C2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9C27"/>
                </a:solidFill>
                <a:latin typeface="Aptos"/>
                <a:ea typeface="Aptos"/>
                <a:cs typeface="Aptos"/>
              </a:rPr>
              <a:t>User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66BDC2-D00E-4144-ABAA-70248C8D9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101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AML model teams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64E661-453D-431C-94AA-24633BD3D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32435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9C2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9C27"/>
                </a:solidFill>
                <a:latin typeface="Aptos"/>
                <a:ea typeface="Aptos"/>
                <a:cs typeface="Aptos"/>
              </a:rPr>
              <a:t>Workflow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387EA6-3451-45E6-9442-801FA578D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6101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Typology intake to QA export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72170F-A434-4752-B26A-5C106BE61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32435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9C2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9C27"/>
                </a:solidFill>
                <a:latin typeface="Aptos"/>
                <a:ea typeface="Aptos"/>
                <a:cs typeface="Aptos"/>
              </a:rPr>
              <a:t>Evaluation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86C406-7CCD-4337-9ABB-666980B6A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6101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Guided data vs threshold baseline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2477C8-83FF-4695-96BB-29AEE6A64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1257300"/>
            <a:ext cx="20002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28182B-37D5-470C-97FF-122C042BB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695450"/>
            <a:ext cx="12001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4350" b="1">
                <a:solidFill>
                  <a:srgbClr val="111D32"/>
                </a:solidFill>
                <a:latin typeface="Aptos Display"/>
                <a:ea typeface="Aptos Display"/>
                <a:cs typeface="Aptos Display"/>
              </a:defRPr>
            </a:pPr>
            <a:r>
              <a:rPr sz="4350" b="1">
                <a:solidFill>
                  <a:srgbClr val="111D32"/>
                </a:solidFill>
                <a:latin typeface="Aptos Display"/>
                <a:ea typeface="Aptos Display"/>
                <a:cs typeface="Aptos Display"/>
              </a:rPr>
              <a:t>SA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FC9B98-FE9B-4948-BF1E-5EBC0DC70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590800"/>
            <a:ext cx="1600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D405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D405B"/>
                </a:solidFill>
                <a:latin typeface="Aptos"/>
                <a:ea typeface="Aptos"/>
                <a:cs typeface="Aptos"/>
              </a:rPr>
              <a:t>Defensive synthetic data only</a:t>
            </a:r>
          </a:p>
          <a:p xmlns:a="http://schemas.openxmlformats.org/drawingml/2006/main">
            <a:pPr algn="ctr">
              <a:defRPr sz="1125" b="0">
                <a:solidFill>
                  <a:srgbClr val="3D405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D405B"/>
                </a:solidFill>
                <a:latin typeface="Aptos"/>
                <a:ea typeface="Aptos"/>
                <a:cs typeface="Aptos"/>
              </a:rPr>
              <a:t>Human review required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89986D-D693-4234-85B4-1CEC3BC98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43600"/>
            <a:ext cx="447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D4E7D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4E7DD"/>
                </a:solidFill>
                <a:latin typeface="Aptos"/>
                <a:ea typeface="Aptos"/>
                <a:cs typeface="Aptos"/>
              </a:rPr>
              <a:t>2-minute presentation + 1-minute browser demo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9A666B-559C-47A1-BDF2-14B35F75A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9125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89C2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D89C27"/>
                </a:solidFill>
                <a:latin typeface="Aptos"/>
                <a:ea typeface="Aptos"/>
                <a:cs typeface="Aptos"/>
                <a:hlinkClick xmlns:r="http://schemas.openxmlformats.org/officeDocument/2006/relationships" r:id="rIdSynthAMLDemo"/>
              </a:rPr>
              <a:t>https://raw.githack.com/yq688m3JT/genAI_final/main/docs/demo.html</a:t>
            </a:r>
          </a:p>
        </p:txBody>
      </p:sp>
    </p:spTree>
    <p:extLst>
      <p:ext uri="{BB962C8B-B14F-4D97-AF65-F5344CB8AC3E}">
        <p14:creationId xmlns:p14="http://schemas.microsoft.com/office/powerpoint/2010/main" val="78013065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C3FA446-FF5E-462C-82A8-6082884A9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729CB8FA-196B-494E-937F-DABAEC88A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BE73D080-ABC6-4AC1-9064-D7EFD990A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CONTEXT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5F9250-2276-4FE7-87E0-FD6F59FAB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33450"/>
            <a:ext cx="85725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New AML typologies create a data cold start before models can learn the pattern.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C90833-BF1A-4CF7-9EBB-A524A37F3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00300"/>
            <a:ext cx="7429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D405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3D405B"/>
                </a:solidFill>
                <a:latin typeface="Aptos"/>
                <a:ea typeface="Aptos"/>
                <a:cs typeface="Aptos"/>
              </a:rPr>
              <a:t>Target user: AML algorithm engineers and compliance data scientists at cross-border payment firms.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E00DAA-11EC-4295-8511-DC9C07886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0520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308823-1CEC-4D68-B8DE-5AFD25B28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52850"/>
            <a:ext cx="40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0EDCFD-5B2A-4269-9A21-073E6AB56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771900"/>
            <a:ext cx="219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Regulator warning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BD3CE9-645E-4E51-BC57-07A997D2D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171950"/>
            <a:ext cx="238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A prose report describes a new shell-company trade pattern.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1FB678-4324-4157-AF48-CCC764602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2862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4324FA-5055-4CE7-98F2-98E8E1155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4219575"/>
            <a:ext cx="1143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41FC36-92D5-4281-A465-BBDE3ABC1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50520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1A0CC9-3C26-4190-89A1-270FF7387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752850"/>
            <a:ext cx="40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FE1FC4-4397-42AB-9012-3B2DB5A0F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771900"/>
            <a:ext cx="219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No labels yet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77A768-6305-4EA0-B07E-9C97D106D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171950"/>
            <a:ext cx="238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The bank has no historical examples for the typology.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5DC6D4-51C3-4FA7-93AA-6E68ACAFA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2862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C3A02A-C4F9-47D6-9C90-8B3C6897E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4219575"/>
            <a:ext cx="1143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A10D4A-6383-493C-A525-655DE0F58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50520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AE7663-E19F-435E-AE3C-B058104A5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752850"/>
            <a:ext cx="40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1B6B4D-A906-4C19-BEBF-9D6F7552A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771900"/>
            <a:ext cx="219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Model blind spot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D651EE-B32C-4DDF-A1F2-EA4EECBBB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171950"/>
            <a:ext cx="238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Threshold rules miss behavior spread across a transaction chain.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636A15F-2E4E-4840-9532-51E6ED840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047750"/>
            <a:ext cx="17907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13D"/>
          </a:solidFill>
          <a:ln xmlns:a="http://schemas.openxmlformats.org/drawingml/2006/main" w="0">
            <a:solidFill>
              <a:srgbClr val="14213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B6C1F8-0F34-40F3-BBF8-9EC562CE0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314450"/>
            <a:ext cx="1143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Goal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C6AC918-9BA9-45E7-84D5-F7DA89B4A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1657350"/>
            <a:ext cx="13716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days,</a:t>
            </a:r>
          </a:p>
          <a:p xmlns:a="http://schemas.openxmlformats.org/drawingml/2006/main">
            <a:pPr algn="ctr">
              <a:defRPr sz="2325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not months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F9E8736-852B-4BD8-88F7-38EE9F6FB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9ED7AAB-BB39-493F-8106-F657E02EB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2857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SynthAML final project | 1</a:t>
            </a:r>
          </a:p>
        </p:txBody>
      </p:sp>
    </p:spTree>
    <p:extLst>
      <p:ext uri="{BB962C8B-B14F-4D97-AF65-F5344CB8AC3E}">
        <p14:creationId xmlns:p14="http://schemas.microsoft.com/office/powerpoint/2010/main" val="101077144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024F21F-E8B3-4B88-B73B-3AD53CCDF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53D8D7A7-9112-462A-AE9F-CDD415E0B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EADDB09D-72C7-4E3E-9649-1D4E1587D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SOLUTION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B6E05C-E85B-4515-A8AD-B62934AF4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95350"/>
            <a:ext cx="8953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SynthAML converts a warning into structured constraints, then into labeled synthetic chains.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C21EF7-26BD-465F-BD1B-B585D2E82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A1BE6A-CA5D-4963-9A6A-FBE35C70B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2857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SynthAML final project | 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436D4C-2F2A-4DD8-B71B-3F20218C3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00350"/>
            <a:ext cx="194310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A4A815-8CA8-4DD6-B0FA-B37240F68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90850"/>
            <a:ext cx="400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D8DE36-C337-49B3-ADCE-5B10133DD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62350"/>
            <a:ext cx="1581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Paste warning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0F5E95-F1CC-4DE4-B841-EE3C0254E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38600"/>
            <a:ext cx="14668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Regulatory prose or short case description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E417D5-9E0C-4A99-B383-3FFF291B0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752850"/>
            <a:ext cx="457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3A4CD1-9586-4FBD-9215-CA09D1042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676650"/>
            <a:ext cx="1333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BF4E9E-4CD9-417F-8630-755E3238C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00350"/>
            <a:ext cx="194310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96359F-0CEF-4180-85E6-641DCD593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990850"/>
            <a:ext cx="400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E7C66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E7C66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12ACA9-9AE8-40DB-94E7-EF99DD850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562350"/>
            <a:ext cx="1581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Extract typology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726757-C5D4-475F-A601-D1C0E4267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038600"/>
            <a:ext cx="14668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Industry, regions, amount range, timing, narratives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A88CCD-6D2C-4AB6-BF56-394C0D05C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752850"/>
            <a:ext cx="457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DA29D6-BDB4-4FE3-A1E7-9C057E5D6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676650"/>
            <a:ext cx="1333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0571B7-ECA4-4B8D-A029-7483201BB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800350"/>
            <a:ext cx="194310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80DC0E-A832-419D-BE90-FA115745C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90850"/>
            <a:ext cx="400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C3C9F2-D149-4A95-B622-93203BBD3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62350"/>
            <a:ext cx="1581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Generate chains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EE656A-322B-4DE9-A9F0-5731A3943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38600"/>
            <a:ext cx="14668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Funding transfer plus rapid split payments with noise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4578F41-103F-4205-9ABF-8A59285C3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752850"/>
            <a:ext cx="457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06B02A5-2265-4F6F-8243-AF813DD03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676650"/>
            <a:ext cx="1333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F1B78BA-3CF2-42B5-BD3F-C1D52A88C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800350"/>
            <a:ext cx="194310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0886695-2269-4875-B3F9-E067978E3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990850"/>
            <a:ext cx="400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C44536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C44536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3E9FE89-D6AE-41DB-91C5-971524E55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562350"/>
            <a:ext cx="1581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Export results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EF490F7-E674-43E4-8FBA-3D2028FC2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038600"/>
            <a:ext cx="14668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Conservation checks, baseline comparison, CSV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ABE55AA-CBEA-4C52-A7B3-CC1F58726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19700"/>
            <a:ext cx="93535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3D405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3D405B"/>
                </a:solidFill>
                <a:latin typeface="Aptos"/>
                <a:ea typeface="Aptos"/>
                <a:cs typeface="Aptos"/>
              </a:rPr>
              <a:t>Design choice: the GenAI step is the translation from unstructured compliance prose into structured generation constraints. A deterministic fallback keeps grading reproducible without an API key.</a:t>
            </a:r>
          </a:p>
        </p:txBody>
      </p:sp>
    </p:spTree>
    <p:extLst>
      <p:ext uri="{BB962C8B-B14F-4D97-AF65-F5344CB8AC3E}">
        <p14:creationId xmlns:p14="http://schemas.microsoft.com/office/powerpoint/2010/main" val="54470870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3816DFD-5A2B-4750-8A5C-95D204B26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BD498633-C650-4661-A182-4C593E431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BB4F3389-CAC9-4AB3-8B51-9C01916AE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EVALUATION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DCE9F5-DD02-4F31-9A3D-B41894F83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95350"/>
            <a:ext cx="9334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Guided chain-style training data beat the threshold baseline on hidden typology recall.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2F6C8C-610B-4003-BF5F-97974C9FF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D0BCF9-A32B-4032-8B48-0363221E8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476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Source: examples/sample_outputs/evaluation_summary.json | 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674A24-E276-4237-9C26-F05EBA549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71700"/>
            <a:ext cx="4572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6E6A61"/>
                </a:solidFill>
                <a:latin typeface="Aptos"/>
                <a:ea typeface="Aptos"/>
                <a:cs typeface="Aptos"/>
              </a:rPr>
              <a:t>F1 score on hidden guided test set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53ADAD-EFA0-4F92-939F-B554833AB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67000"/>
            <a:ext cx="1619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SynthAML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C18514-F2BA-48A4-990C-52C422576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724150"/>
            <a:ext cx="571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0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92F629-4CAB-4EE0-81C9-2869D4124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724150"/>
            <a:ext cx="571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63B197-474C-48F8-B279-8639EDA41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676525"/>
            <a:ext cx="952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1.000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91A1F9-6844-4429-9FF8-E6C7F63F2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05200"/>
            <a:ext cx="1619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Baseline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DD0DDA-97EC-49FD-B665-D83CAC3D0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562350"/>
            <a:ext cx="571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0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EF5281-C79F-4DA9-95D6-B7A3A48F6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562350"/>
            <a:ext cx="76009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DD7A68-23CD-47AC-BE7E-5E4D9C57E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514725"/>
            <a:ext cx="952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44536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C44536"/>
                </a:solidFill>
                <a:latin typeface="Aptos"/>
                <a:ea typeface="Aptos"/>
                <a:cs typeface="Aptos"/>
              </a:rPr>
              <a:t>0.133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622E0E-3BC9-4DD4-8B89-BAAAA37A7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91050"/>
            <a:ext cx="8153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D2C12A-6784-4780-9C4F-FB2C69BEA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9650"/>
            <a:ext cx="3143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What counted as good output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C50847-79CB-4AE4-B25D-458904ECE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2959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80B0D5-00AF-40C0-BE34-6593FA841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2006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Chains preserve fund conservation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9603C0-DB0B-44A9-BF63-BA45558AE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52959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3D4377-438B-44D8-A977-95281F5E2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52006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Suspicious activity is not just a large amount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35E8642-CFB1-4DE6-B423-3A92AC465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2959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E073F80-5448-4CFF-A383-1B7F3A0D6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2006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Human reviewer can inspect constraints and records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451F19E-FDF0-42BA-9119-75112D959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362200"/>
            <a:ext cx="15621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1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5111A45-C365-4AC6-A47E-0207F5AEB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619375"/>
            <a:ext cx="914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Recall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5B63EBF-6611-463F-8B85-C6C0ADDA3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990850"/>
            <a:ext cx="1143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1.000</a:t>
            </a:r>
          </a:p>
          <a:p xmlns:a="http://schemas.openxmlformats.org/drawingml/2006/main">
            <a:pPr algn="ctr">
              <a:defRPr sz="21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vs 0.074</a:t>
            </a:r>
          </a:p>
        </p:txBody>
      </p:sp>
    </p:spTree>
    <p:extLst>
      <p:ext uri="{BB962C8B-B14F-4D97-AF65-F5344CB8AC3E}">
        <p14:creationId xmlns:p14="http://schemas.microsoft.com/office/powerpoint/2010/main" val="179296126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AB9691B-2B3B-40EA-A679-4AEA72C17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ABA804BB-C2DC-42DA-A24C-388685A58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0A0FCD88-B225-4097-AD36-0F38069E7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UI WALKTHROUGH 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9F3808-9600-4D3C-BD95-8BBD196F4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14400"/>
            <a:ext cx="9906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The reviewer starts by pasting a warning and checking the extracted scenario brief.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86F07B-3CB1-4F30-8299-6C64BCF4B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B4C210-8ED7-4C0F-A20E-5828EF5A4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Artifact walkthrough | 4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45ef44a0c048a1"/>
          <a:stretch xmlns:a="http://schemas.openxmlformats.org/drawingml/2006/main"/>
        </p:blipFill>
        <p:spPr>
          <a:xfrm xmlns:a="http://schemas.openxmlformats.org/drawingml/2006/main">
            <a:off x="2959244" y="1714500"/>
            <a:ext cx="6273511" cy="438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0E6954-18C2-4309-8E9F-7B6F4BADD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1714500"/>
            <a:ext cx="77914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0168074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72A7FA1-6E6A-4205-8402-79FDBA043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AB99CEBB-5D58-4675-A14A-164AF2B4E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15E4C833-D87A-431F-A39E-FBBC44A97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UI WALKTHROUGH 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7334C6-3868-40B2-9844-80CC159C8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14400"/>
            <a:ext cx="9906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The evaluation tab compares SynthAML’s guided data against the simple baseline.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C81F29-7534-43F6-BB39-DC5CD333E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E6249F-1DF0-4082-AE6F-9C6FF010A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Artifact walkthrough | 5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778113298c4041"/>
          <a:stretch xmlns:a="http://schemas.openxmlformats.org/drawingml/2006/main"/>
        </p:blipFill>
        <p:spPr>
          <a:xfrm xmlns:a="http://schemas.openxmlformats.org/drawingml/2006/main">
            <a:off x="2959244" y="1714500"/>
            <a:ext cx="6273511" cy="438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A5B6EE-4496-4913-B8AE-05E1D2999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1714500"/>
            <a:ext cx="77914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46167746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33BA71E-EC98-43BA-BDDC-83849BFEE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29FF781A-CE7C-4224-9DB8-6AEDCD352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101265D5-21BE-499D-9F6F-67F1AD498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CLICKABLE BROWSER DEMO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31728E-92C6-4B79-BB55-26ADD5D97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14400"/>
            <a:ext cx="9906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Open the static web demo from the slide, then show intake, data, evaluation, and export.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80E1BC-5BC9-4875-9FF9-C9E735BF8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428B3F-2105-4D77-89DC-CCBD84D32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Artifact walkthrough | 6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e24bdea7f84634"/>
          <a:stretch xmlns:a="http://schemas.openxmlformats.org/drawingml/2006/main"/>
        </p:blipFill>
        <p:spPr>
          <a:xfrm xmlns:a="http://schemas.openxmlformats.org/drawingml/2006/main">
            <a:off x="2959244" y="1714500"/>
            <a:ext cx="6273511" cy="438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B41657-82E7-4848-B5CF-1B3048C7B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1714500"/>
            <a:ext cx="77914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990A92-67FB-4CA9-9926-89FCE10DD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619750"/>
            <a:ext cx="533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493EE1-236B-411E-9E97-5802AEF56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5705475"/>
            <a:ext cx="4533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CLICK HERE FOR BROWSER DEMO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3916F5-3FA6-46B2-A390-CFFD180A2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6115050"/>
            <a:ext cx="7772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0E7C66"/>
                </a:solidFill>
                <a:latin typeface="Aptos"/>
                <a:ea typeface="Aptos"/>
                <a:cs typeface="Aptos"/>
                <a:hlinkClick xmlns:r="http://schemas.openxmlformats.org/officeDocument/2006/relationships" r:id="rIdSynthAMLDemo"/>
              </a:rPr>
              <a:t>https://raw.githack.com/yq688m3JT/genAI_final/main/docs/demo.html</a:t>
            </a:r>
          </a:p>
        </p:txBody>
      </p:sp>
    </p:spTree>
    <p:extLst>
      <p:ext uri="{BB962C8B-B14F-4D97-AF65-F5344CB8AC3E}">
        <p14:creationId xmlns:p14="http://schemas.microsoft.com/office/powerpoint/2010/main" val="200933827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2026-05-11T13:02:40.5160000Z</dcterms:created>
  <dcterms:modified xsi:type="dcterms:W3CDTF">2026-05-11T13:02:40.5160000Z</dcterms:modified>
</coreProperties>
</file>