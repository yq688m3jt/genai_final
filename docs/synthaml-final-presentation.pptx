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6db24d6c9d4919" /><Relationship Type="http://schemas.openxmlformats.org/officeDocument/2006/relationships/extended-properties" Target="/docProps/app.xml" Id="R55cff945fa11420f" /><Relationship Type="http://schemas.openxmlformats.org/officeDocument/2006/relationships/officeDocument" Target="/ppt/presentation.xml" Id="R1a0ad091387c40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8f313c18804905"/>
  </p:sldMasterIdLst>
  <p:notesMasterIdLst>
    <p:notesMasterId xmlns:r="http://schemas.openxmlformats.org/officeDocument/2006/relationships" r:id="Rf46faca964c5475d"/>
  </p:notesMasterIdLst>
  <p:sldIdLst>
    <p:sldId xmlns:r="http://schemas.openxmlformats.org/officeDocument/2006/relationships" id="256" r:id="R5eed4f59fe914b62"/>
    <p:sldId xmlns:r="http://schemas.openxmlformats.org/officeDocument/2006/relationships" id="257" r:id="R8772645b1b1d40b0"/>
    <p:sldId xmlns:r="http://schemas.openxmlformats.org/officeDocument/2006/relationships" id="258" r:id="R325526c031924799"/>
    <p:sldId xmlns:r="http://schemas.openxmlformats.org/officeDocument/2006/relationships" id="259" r:id="R3b3ecb53864c4b4e"/>
    <p:sldId xmlns:r="http://schemas.openxmlformats.org/officeDocument/2006/relationships" id="260" r:id="R224bd872dd65472f"/>
    <p:sldId xmlns:r="http://schemas.openxmlformats.org/officeDocument/2006/relationships" id="261" r:id="Rc0ba681470dd4de6"/>
    <p:sldId xmlns:r="http://schemas.openxmlformats.org/officeDocument/2006/relationships" id="262" r:id="Re224aac4bae8434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8f313c18804905" /><Relationship Type="http://schemas.openxmlformats.org/officeDocument/2006/relationships/theme" Target="/ppt/theme/theme1.xml" Id="Rb494f88a70fe43bf" /><Relationship Type="http://schemas.openxmlformats.org/officeDocument/2006/relationships/notesMaster" Target="/ppt/notesMasters/notesMaster1.xml" Id="Rf46faca964c5475d" /><Relationship Type="http://schemas.openxmlformats.org/officeDocument/2006/relationships/presProps" Target="/ppt/presProps.xml" Id="R8e7bccf7d003495a" /><Relationship Type="http://schemas.openxmlformats.org/officeDocument/2006/relationships/viewProps" Target="/ppt/viewProps.xml" Id="Rfb34bff1bcc440d1" /><Relationship Type="http://schemas.openxmlformats.org/officeDocument/2006/relationships/tableStyles" Target="/ppt/tableStyles.xml" Id="Rebde15df905d43a6" /><Relationship Type="http://schemas.openxmlformats.org/officeDocument/2006/relationships/slide" Target="/ppt/slides/slide1.xml" Id="R5eed4f59fe914b62" /><Relationship Type="http://schemas.openxmlformats.org/officeDocument/2006/relationships/slide" Target="/ppt/slides/slide2.xml" Id="R8772645b1b1d40b0" /><Relationship Type="http://schemas.openxmlformats.org/officeDocument/2006/relationships/slide" Target="/ppt/slides/slide3.xml" Id="R325526c031924799" /><Relationship Type="http://schemas.openxmlformats.org/officeDocument/2006/relationships/slide" Target="/ppt/slides/slide4.xml" Id="R3b3ecb53864c4b4e" /><Relationship Type="http://schemas.openxmlformats.org/officeDocument/2006/relationships/slide" Target="/ppt/slides/slide5.xml" Id="R224bd872dd65472f" /><Relationship Type="http://schemas.openxmlformats.org/officeDocument/2006/relationships/slide" Target="/ppt/slides/slide6.xml" Id="Rc0ba681470dd4de6" /><Relationship Type="http://schemas.openxmlformats.org/officeDocument/2006/relationships/slide" Target="/ppt/slides/slide7.xml" Id="Re224aac4bae843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bc2e98d6ee740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57504444bf46a7" /><Relationship Type="http://schemas.openxmlformats.org/officeDocument/2006/relationships/notesMaster" Target="/ppt/notesMasters/notesMaster1.xml" Id="R41fefd79711447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77aa14035b4b05" /><Relationship Type="http://schemas.openxmlformats.org/officeDocument/2006/relationships/notesMaster" Target="/ppt/notesMasters/notesMaster1.xml" Id="R423c2002f2014e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f708506aea4f9d" /><Relationship Type="http://schemas.openxmlformats.org/officeDocument/2006/relationships/notesMaster" Target="/ppt/notesMasters/notesMaster1.xml" Id="R7b0170261b4548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68cb7d75b34c53" /><Relationship Type="http://schemas.openxmlformats.org/officeDocument/2006/relationships/notesMaster" Target="/ppt/notesMasters/notesMaster1.xml" Id="R1cb10fc58be245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636d7bc5d44cce" /><Relationship Type="http://schemas.openxmlformats.org/officeDocument/2006/relationships/notesMaster" Target="/ppt/notesMasters/notesMaster1.xml" Id="R7d3ec822c5a8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2aa2966bdc49f9" /><Relationship Type="http://schemas.openxmlformats.org/officeDocument/2006/relationships/notesMaster" Target="/ppt/notesMasters/notesMaster1.xml" Id="R6751f21443ac4e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dc8497c5ad41f3" /><Relationship Type="http://schemas.openxmlformats.org/officeDocument/2006/relationships/notesMaster" Target="/ppt/notesMasters/notesMaster1.xml" Id="Rd85294294a7e49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69b49a79d491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61d97468dc647a0" /><Relationship Type="http://schemas.openxmlformats.org/officeDocument/2006/relationships/slideLayout" Target="/ppt/slideLayouts/slideLayout2.xml" Id="Re32c5811069246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2c5811069246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15c9e20eae4665" /><Relationship Type="http://schemas.openxmlformats.org/officeDocument/2006/relationships/notesSlide" Target="/ppt/notesSlides/notesSlide1.xml" Id="R7ce52428d5f54c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f5fbb396384070" /><Relationship Type="http://schemas.openxmlformats.org/officeDocument/2006/relationships/notesSlide" Target="/ppt/notesSlides/notesSlide2.xml" Id="Ra8cf1251904149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b99dc9c9a14b2f" /><Relationship Type="http://schemas.openxmlformats.org/officeDocument/2006/relationships/notesSlide" Target="/ppt/notesSlides/notesSlide3.xml" Id="R022f1118d48b44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1d08b44d6c4adf" /><Relationship Type="http://schemas.openxmlformats.org/officeDocument/2006/relationships/notesSlide" Target="/ppt/notesSlides/notesSlide4.xml" Id="Rf2400ea2f88147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af0be595174426" /><Relationship Type="http://schemas.openxmlformats.org/officeDocument/2006/relationships/notesSlide" Target="/ppt/notesSlides/notesSlide5.xml" Id="Re88d94a13f0e43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af8ee53e9c4bfb" /><Relationship Type="http://schemas.openxmlformats.org/officeDocument/2006/relationships/notesSlide" Target="/ppt/notesSlides/notesSlide6.xml" Id="Ra8bdb5a25ea243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12db201b6d4d61" /><Relationship Type="http://schemas.openxmlformats.org/officeDocument/2006/relationships/notesSlide" Target="/ppt/notesSlides/notesSlide7.xml" Id="Rdbd586aec6ba467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383595-02AA-4CF5-8BA5-CFCB1862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C12D06-C8C8-4889-8547-F6D168C5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BF0E2E-2E6F-40E4-AF60-96B38C8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F6EA5-33F0-482A-9020-540CC7C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983BA-1156-4080-AABF-B241F308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focused GenAI workflow for detecting candidate laundering patterns from records and turning them into model QA packages.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A85056-DDB2-4DBD-B253-C2590523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7BC993-4D35-48A9-BD80-58FFAEC9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87370-BF67-4A3E-902E-582175E1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B9EA36-F047-4BB7-BBF0-F18349FA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51C5D-8C2E-4C55-9C3B-46F3128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Records to QA package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E9A6F-8E1B-481F-99EA-D4B516B8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09908B-A7EF-4A2A-84A1-9B2F06B8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1F536-19B8-4593-9ACE-AFE456E9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E647D-6EB2-4400-9997-CCA3DC94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31200-B6B4-4528-BCF1-4657FABD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1179B-D606-4DF4-9D92-5E907D22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843FB-CF93-4DA3-94A0-CC4C6219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</a:rPr>
              <a:t>https://raw.githack.com/yq688m3JT/genAI_final/ae9c84ea574e9f8c48c84f1863ce82f77ea4f24e/docs/demo.html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2464247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330D52-BF53-41D8-8D9A-B364DD4A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012C92C-AF98-4966-A481-860F2E82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B1D54C5-3FA9-4FFA-BDF5-88462F9B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867EAC-58E3-45BA-B520-82C730DB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AML teams need to turn messy laundering records into reusable model-test patterns.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23A52D-7883-43B5-89E9-2126851C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responsible for model QA at banks or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12355E-AE44-4035-8EBF-7564E43A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F974BE-8B62-4F95-AB34-182E1C52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5534DD-5911-4D3A-BB7B-515DB23E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Record 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60D56C-8C62-4003-B929-0CAFA67B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Closed cases and suspicious samples contain repeated behavior.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13DEE-CDC1-42A5-B65A-E4AAB249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FECA1-B9CB-46C9-B4DA-4689F1B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18A58-AB3F-424F-99DD-8845A4A5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D19470-D8B5-4C68-A22B-4BBE4BA0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3A178-1E4C-496E-9A67-D81DAA12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typology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B8646-A2EA-4615-B085-F2125D58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pattern is not yet formalized into a reusable test scenario.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46B160-BAAE-45D0-89C5-3D257F7F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F80E1D-5183-4F48-B809-5A7E2401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C3BFAA-3514-44FC-AE0A-A2E86FAD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18ADB2-8139-4A7C-83C6-ECB89474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1CC8F-7405-4A67-9F21-6F00D8F5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6C2538-78BE-45CF-8D78-B02A84FB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Simple amount rules miss behavior distributed across a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65CF4D-C121-44CC-90D7-A0F70ED1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DEBF0C-B08E-437D-9FC0-95004ABC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EDD4B9-A60F-4B0D-B0E3-4655E9CB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reviewed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same 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322983-A630-4BC1-9ACD-848E4685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04AC96-F685-4E6D-8C5C-D6DB9753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7167667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C8A639-C47F-4AA1-92C7-5DAFE3DE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7D5556F-2795-4684-97A2-EEB64685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C2736FB-FEAE-43C0-A4C0-61FD6734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APPLICATION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28784-6792-429F-A9CD-C8A6AEAF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uses GenAI to detect a candidate typology from suspicious record batches.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FF20A-28B8-4DBA-BDF4-0E681D57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E2F976-B612-4BCF-9A22-F62569B6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CDC97-CA05-4AFB-ADDF-EC72DFE0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675DF-DC2B-4277-8E6D-359848C5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07BDC-06A6-4562-ACCF-A78FF65F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Self-intake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AF300A-E312-47F5-8DE9-6819C17D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Ingest closed cases, suspicious samples, or analyst notes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BC0DD-B5DF-4CE4-B242-AC3572DF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5D548-F6E5-4A4A-BB1F-69220667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6F63B-6244-43E9-9695-2EEC063A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049A39-AB8D-4B5E-A74E-94650CD4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82A60-148E-4FD3-A5BD-423B4258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4995D9-E6EC-4291-9E5D-134CC5D1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LLM proposes recurring regions, timing, narratives, and methods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13C90-A99C-4971-A1D9-8BF5DCD1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DF194B-2EE1-4032-B125-BB98D2BF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4F563-B1DA-4243-98E1-2E9E934D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5FC658-3DD0-4A05-BE25-9A65F666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A2436-E472-4A9E-B081-6EF32F26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3ED115-4038-430E-917C-F50C9A5A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Analyst approves the detected pattern, not hand-written rules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5D4EF7-2BBE-4AA8-9DB3-1CFD203F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A17389-9A2A-49D7-8882-0E52B418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1EED2E-FDFB-47DA-ABA2-533167BB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6EE8D2-D17F-422A-8ED2-CE371BD5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7B7CD5-5FB2-4A0E-8C04-0C025CD3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Evaluate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55F9B2-C914-4F74-9EB5-55135D9F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Compare guided data against a simpler baseline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1D1BC7-3E1D-4506-AA2B-C2E6C494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GenAI detects the candidate laundering pattern from messy records. The reviewer validates the inferred typology before synthetic data is generated or exported.</a:t>
            </a:r>
          </a:p>
        </p:txBody>
      </p:sp>
    </p:spTree>
    <p:extLst>
      <p:ext uri="{BB962C8B-B14F-4D97-AF65-F5344CB8AC3E}">
        <p14:creationId xmlns:p14="http://schemas.microsoft.com/office/powerpoint/2010/main" val="49689292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5E2C24-7634-4822-8431-DB247B28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95B4013-6351-4507-88B2-9D557DF5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A6EE0B5-E05D-46B3-B024-2E94594A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1028A-5ADD-4E47-B768-51FCC8FE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baseline comparison asks whether GenAI adds value beyond a cheap rule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D458D-5655-4B6E-9AF2-97375420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80C30-BDAE-43B8-9F9B-16CADE8F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62E6E-3B3E-45B7-BA4C-8CF45A2D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8B76D-ABFA-458D-A61B-73B2EA47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DC2CA-C56B-4CAB-A99A-AF32C2E9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61E182-C1C0-4AD8-B937-BE66B731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14AA5C-8206-41FD-9E40-A0805872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2F248-859D-4BE9-8BA8-4C3331EF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B357D-D5BA-4BC6-88DC-C756C6BF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1888E-A4B0-4AB4-8ECD-F1797936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A913C-C6DF-49B1-94E1-25C3945F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00EF3E-B2CF-4CCE-86A2-42E8282D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DE05C3-3828-4367-BEC7-9395A772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DB89E-1009-4180-B914-94EF361A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DE9228-A36A-4FD3-A89A-3E6C3723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76208B-F4AD-4C59-8F47-27F7E80F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941672-7E32-4A4C-A5AF-6BA774CA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7BDFCF-813B-4C7D-939A-D640315C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39090C-C2FC-4EC5-BF95-362CE097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the detected pattern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CEC1C4-C424-4026-986B-8EFE0AB8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E40B8E-227C-48D2-86F6-1FB2D992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4976E0-AE80-4C1B-AA88-12115065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7298251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AAC5DA-9F95-4005-B6AF-0D8A1A3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51D6422-6062-4F61-8EC0-D4B11306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EF3829A-5BC2-4496-8A01-A1F029A1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WHY THIS WORKFLOW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5DC35-A435-4019-94E9-F389E27F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real bottleneck is detecting a reusable laundering pattern from messy case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EC67B-7B05-4A3A-A84B-A8C3542D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65FC3-A0B1-49AC-888A-FC457868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3329A1-298A-4304-878F-6BF304D9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B58DA-F5C8-4D0F-A638-CE8CFB04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22232-7ED7-4F02-92BF-5249FC25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431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Status quo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9E5E1A-F0CF-4249-A347-520EC223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3622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An analyst reviews case records, notices similarities, and manually drafts a test scenario or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EDD9C8-D651-4DBF-B9A6-DBA83F6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2A830-C8BC-49F2-A70D-838CCFFD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75C8F-409F-420C-B77C-3B7E848E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385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9E14EA-8BCC-40F6-A60E-A074166E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576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resulting data can overfit high amounts and miss multi-step chains.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170962-7DDC-4ED0-A0F0-71C9547B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340493-E487-4D80-B83A-05C809DF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2FF3B9-19B4-42EF-BC43-42DE68B9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339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 shift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944F1-8299-4276-8CAD-252B339C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530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LLM surfaces a candidate typology, while the reviewer validates the business meaning and evidence.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9D0EE0-0073-44B1-BBD9-509043FB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676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B"/>
          </a:solidFill>
          <a:ln xmlns:a="http://schemas.openxmlformats.org/drawingml/2006/main" w="9525">
            <a:solidFill>
              <a:srgbClr val="D89C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55B6BB-7D20-4B4F-8030-C8E65D0F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05100"/>
            <a:ext cx="1143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rPr>
              <a:t>Human validation stays central</a:t>
            </a:r>
          </a:p>
        </p:txBody>
      </p:sp>
    </p:spTree>
    <p:extLst>
      <p:ext uri="{BB962C8B-B14F-4D97-AF65-F5344CB8AC3E}">
        <p14:creationId xmlns:p14="http://schemas.microsoft.com/office/powerpoint/2010/main" val="62173254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1C0C99-7B7D-443A-9C8B-218314E8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3D25DA0-CC1D-4E65-8D27-EFA574B5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22BDF39-E534-4BC1-AEBC-AB0E6C2B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WHAT THE APP DOES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1559E-D030-454A-A1A4-45BCE7B3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application is a workbench for one narrow workflow: record-driven pattern discovery to model QA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41C9E4-D693-488B-86B1-7599E596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E1895B-3341-4FF5-84C1-135CDCD9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2DCD9-04A2-452E-880A-44752610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FC056-5B37-49B6-88B5-8EC207AC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431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 Record self-intake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054B6E-F604-4B9C-9598-719E10D8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431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Load suspicious records, closed case notes, or analyst-labeled samples.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66432E-98F7-4EFD-B3A4-A37D754F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8C278B-13D4-494A-A7FE-9417BE83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2. Pattern discovery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34615-DAA9-440A-9955-5A413726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Let the LLM infer recurring regions, timing, narratives, counterparties, and split behavior.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0D879-F95D-446F-AB0A-473836D3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01A25-9323-4515-A8AD-72626387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3. Human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349C9-2ED5-486D-A3B9-6A5EDFC7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052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Approve the detected typology only when it matches the evidence and business context.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5CF99A-0B2D-452A-A823-CC2BDA81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454BA0-9888-42F3-80E4-9675E1CC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4. Ledger analysis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8DDFC6-A75F-4AD3-9FD2-86E521BC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Filter and inspect transaction rows, chain IDs, labels, and risk signals.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E40B7-B8B6-4BBB-B404-B398B275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B16301-305F-4508-BA4D-85C8EFD4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5. Evaluation + export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F4A2A3-914E-4D1E-914D-738ED8EA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Compare against the baseline and download the QA package.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EB754D-8B11-4FCC-98F3-EE6A9BE6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293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Commercial framing: this is not a rule form. It is a structured operating surface for LLM-assisted pattern discovery with human governance.</a:t>
            </a:r>
          </a:p>
        </p:txBody>
      </p:sp>
    </p:spTree>
    <p:extLst>
      <p:ext uri="{BB962C8B-B14F-4D97-AF65-F5344CB8AC3E}">
        <p14:creationId xmlns:p14="http://schemas.microsoft.com/office/powerpoint/2010/main" val="13606121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2D8314-FC06-4148-AE31-00984522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A3F315B-4B3A-4A4D-812B-493B1365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D261404-9BDA-4A98-9DE5-81732360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LIVE DEMO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E3C99-E929-4292-9391-C089FC4B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In the final minute, open the browser workbench and show the workflow live.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D271F-90ED-43B4-8F22-74F31DAE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B596FF-E197-4F8A-90E6-27817F90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D680D-4A7B-4F03-8EC4-9653A957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F5FA2B-88AE-4F9A-B570-00A2946B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Record self-intake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53FAD-C4F4-405B-BD82-54DA8C8E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sample laundering records and run pattern discovery.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A3E46-8C10-4510-9C06-41E77A68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F9461-3E60-4EB1-B280-C28C7D8A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Pattern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831A6-63E1-46A6-B588-1F1D8025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detected typology and human validation gate.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AB91BE-8741-404C-8515-8484EA11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204067-66F0-4FB7-AD83-540093E2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Ledger +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89DE08-E235-45CA-A6C9-4629BDFA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Filter suspicious chains, then show baseline comparison.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BA103-2A53-4B76-99DB-03097393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3DAB56-4BA8-46A0-812A-9E28801C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34754-66C6-4326-B6FA-964AA2CA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guided CSV, baseline CSV, and evaluation JSON package.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57BC8-5333-4E13-8891-BAC33336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00650"/>
            <a:ext cx="7086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F70DD7-127A-47A0-BC1E-86DE41C9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314950"/>
            <a:ext cx="582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LIVE BROWSER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E2C67C-ACEC-4995-A3A5-03E0C1E4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86450"/>
            <a:ext cx="826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</a:rPr>
              <a:t>https://raw.githack.com/yq688m3JT/genAI_final/ae9c84ea574e9f8c48c84f1863ce82f77ea4f24e/docs/demo.html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3867176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2026-05-11T14:00:51.2250000Z</dcterms:created>
  <dcterms:modified xsi:type="dcterms:W3CDTF">2026-05-11T14:00:51.2250000Z</dcterms:modified>
</coreProperties>
</file>