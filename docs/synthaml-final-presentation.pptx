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b25a1550d542c1" /><Relationship Type="http://schemas.openxmlformats.org/officeDocument/2006/relationships/extended-properties" Target="/docProps/app.xml" Id="R8c3f89a79a224413" /><Relationship Type="http://schemas.openxmlformats.org/officeDocument/2006/relationships/officeDocument" Target="/ppt/presentation.xml" Id="Rc0d42f3e9a2c4a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ef0ef060c8418c"/>
  </p:sldMasterIdLst>
  <p:notesMasterIdLst>
    <p:notesMasterId xmlns:r="http://schemas.openxmlformats.org/officeDocument/2006/relationships" r:id="R9d876333ddde406f"/>
  </p:notesMasterIdLst>
  <p:sldIdLst>
    <p:sldId xmlns:r="http://schemas.openxmlformats.org/officeDocument/2006/relationships" id="256" r:id="R548c0bbe1e54443e"/>
    <p:sldId xmlns:r="http://schemas.openxmlformats.org/officeDocument/2006/relationships" id="257" r:id="R6f1c515c0f2f4a47"/>
    <p:sldId xmlns:r="http://schemas.openxmlformats.org/officeDocument/2006/relationships" id="258" r:id="R8773f2e9089a41fb"/>
    <p:sldId xmlns:r="http://schemas.openxmlformats.org/officeDocument/2006/relationships" id="259" r:id="Rd10ba0bc75504158"/>
    <p:sldId xmlns:r="http://schemas.openxmlformats.org/officeDocument/2006/relationships" id="260" r:id="R2143d4f99a1f403a"/>
    <p:sldId xmlns:r="http://schemas.openxmlformats.org/officeDocument/2006/relationships" id="261" r:id="Rd314185a59ff4968"/>
    <p:sldId xmlns:r="http://schemas.openxmlformats.org/officeDocument/2006/relationships" id="262" r:id="R51060c052ab346b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ef0ef060c8418c" /><Relationship Type="http://schemas.openxmlformats.org/officeDocument/2006/relationships/theme" Target="/ppt/theme/theme1.xml" Id="Rb8d7cac806a14a2a" /><Relationship Type="http://schemas.openxmlformats.org/officeDocument/2006/relationships/notesMaster" Target="/ppt/notesMasters/notesMaster1.xml" Id="R9d876333ddde406f" /><Relationship Type="http://schemas.openxmlformats.org/officeDocument/2006/relationships/presProps" Target="/ppt/presProps.xml" Id="R45f1da15b45141a0" /><Relationship Type="http://schemas.openxmlformats.org/officeDocument/2006/relationships/viewProps" Target="/ppt/viewProps.xml" Id="R7766c53e146445d1" /><Relationship Type="http://schemas.openxmlformats.org/officeDocument/2006/relationships/tableStyles" Target="/ppt/tableStyles.xml" Id="R0ccb6d19cdad418b" /><Relationship Type="http://schemas.openxmlformats.org/officeDocument/2006/relationships/slide" Target="/ppt/slides/slide1.xml" Id="R548c0bbe1e54443e" /><Relationship Type="http://schemas.openxmlformats.org/officeDocument/2006/relationships/slide" Target="/ppt/slides/slide2.xml" Id="R6f1c515c0f2f4a47" /><Relationship Type="http://schemas.openxmlformats.org/officeDocument/2006/relationships/slide" Target="/ppt/slides/slide3.xml" Id="R8773f2e9089a41fb" /><Relationship Type="http://schemas.openxmlformats.org/officeDocument/2006/relationships/slide" Target="/ppt/slides/slide4.xml" Id="Rd10ba0bc75504158" /><Relationship Type="http://schemas.openxmlformats.org/officeDocument/2006/relationships/slide" Target="/ppt/slides/slide5.xml" Id="R2143d4f99a1f403a" /><Relationship Type="http://schemas.openxmlformats.org/officeDocument/2006/relationships/slide" Target="/ppt/slides/slide6.xml" Id="Rd314185a59ff4968" /><Relationship Type="http://schemas.openxmlformats.org/officeDocument/2006/relationships/slide" Target="/ppt/slides/slide7.xml" Id="R51060c052ab346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e8bc3d7f42e40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995a6087da34014" /><Relationship Type="http://schemas.openxmlformats.org/officeDocument/2006/relationships/notesMaster" Target="/ppt/notesMasters/notesMaster1.xml" Id="R2edde2686ad945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6f081563b447a8" /><Relationship Type="http://schemas.openxmlformats.org/officeDocument/2006/relationships/notesMaster" Target="/ppt/notesMasters/notesMaster1.xml" Id="R65660aec685540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edec496d5d4f3a" /><Relationship Type="http://schemas.openxmlformats.org/officeDocument/2006/relationships/notesMaster" Target="/ppt/notesMasters/notesMaster1.xml" Id="Rd409916c102546e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832416b7d84a29" /><Relationship Type="http://schemas.openxmlformats.org/officeDocument/2006/relationships/notesMaster" Target="/ppt/notesMasters/notesMaster1.xml" Id="Rb643ffbc08524e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3409abf0264bbd" /><Relationship Type="http://schemas.openxmlformats.org/officeDocument/2006/relationships/notesMaster" Target="/ppt/notesMasters/notesMaster1.xml" Id="Ra86a80f255ad4d8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13bb553863e4f32" /><Relationship Type="http://schemas.openxmlformats.org/officeDocument/2006/relationships/notesMaster" Target="/ppt/notesMasters/notesMaster1.xml" Id="Rf8cbd4b46ab346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00c79bab24d4d27" /><Relationship Type="http://schemas.openxmlformats.org/officeDocument/2006/relationships/notesMaster" Target="/ppt/notesMasters/notesMaster1.xml" Id="R1614a770bafe41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39b4e0cb0849d8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fa7824dc3d4a47dc" /><Relationship Type="http://schemas.openxmlformats.org/officeDocument/2006/relationships/slideLayout" Target="/ppt/slideLayouts/slideLayout2.xml" Id="Rd2ab3c0fce0142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ab3c0fce0142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218a87c82f42f6" /><Relationship Type="http://schemas.openxmlformats.org/officeDocument/2006/relationships/notesSlide" Target="/ppt/notesSlides/notesSlide1.xml" Id="R8731a9cdd55448af" /><Relationship Type="http://schemas.openxmlformats.org/officeDocument/2006/relationships/hyperlink" Target="https://raw.githack.com/yq688m3JT/genAI_final/a909764e2905cf627550479f619ade84aa52cfa9/docs/demo.html" TargetMode="External" Id="rIdSynthAMLDemo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59eca65f964213" /><Relationship Type="http://schemas.openxmlformats.org/officeDocument/2006/relationships/notesSlide" Target="/ppt/notesSlides/notesSlide2.xml" Id="R3a02789fc80e4c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45c9cc3e6a24cdc" /><Relationship Type="http://schemas.openxmlformats.org/officeDocument/2006/relationships/notesSlide" Target="/ppt/notesSlides/notesSlide3.xml" Id="Rb6b1ab4adc5c4e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8165212d3d474e" /><Relationship Type="http://schemas.openxmlformats.org/officeDocument/2006/relationships/notesSlide" Target="/ppt/notesSlides/notesSlide4.xml" Id="R9018826b066b49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c77d58fec3344c4" /><Relationship Type="http://schemas.openxmlformats.org/officeDocument/2006/relationships/notesSlide" Target="/ppt/notesSlides/notesSlide5.xml" Id="Rf8073b44f8084d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4f63a3da7244ca" /><Relationship Type="http://schemas.openxmlformats.org/officeDocument/2006/relationships/notesSlide" Target="/ppt/notesSlides/notesSlide6.xml" Id="R86650c29a5d2439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5c82c7033844f6" /><Relationship Type="http://schemas.openxmlformats.org/officeDocument/2006/relationships/notesSlide" Target="/ppt/notesSlides/notesSlide7.xml" Id="R1b817dc4d7d24fad" /><Relationship Type="http://schemas.openxmlformats.org/officeDocument/2006/relationships/hyperlink" Target="https://raw.githack.com/yq688m3JT/genAI_final/a909764e2905cf627550479f619ade84aa52cfa9/docs/demo.html" TargetMode="External" Id="rIdSynthAMLDemo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6C2AF5-EA10-4A9E-8282-C8A78118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9F09E3-CE97-42DA-B754-69512FF56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9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675DE5-D985-4E32-AFD5-C6AF36E2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D4E7DD"/>
                </a:solidFill>
                <a:latin typeface="Aptos"/>
                <a:ea typeface="Aptos"/>
                <a:cs typeface="Aptos"/>
              </a:rPr>
              <a:t>FINAL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36324B-702F-4C20-B2A9-630B7347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6096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SynthAML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EA4C4-5830-4379-928A-13CDB6B2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7429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9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A focused GenAI workflow for detecting candidate laundering patterns from records and turning them into model QA packages.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19CA1C-EF9A-4AD2-986A-DC7C32DB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62400"/>
            <a:ext cx="704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4D6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5B59BE-B27F-422A-93A8-1DA51BAA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User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DB3EC2-CAA9-4EE1-884F-C1EC8821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AML model teams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F6B052-C993-40D6-A2F0-73548957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A0AABD-813F-45A4-A26A-C9CDE57C5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Records to QA package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665BD-61E2-49C4-B511-323482CC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24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89C27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034D4-B52F-48F8-9BC6-89448156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101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Guided data vs threshold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70E98D-8A47-4AB0-AC9B-4269801F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257300"/>
            <a:ext cx="20002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978FD1-3BDE-493E-B912-F4698A9F5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12001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11D32"/>
                </a:solidFill>
                <a:latin typeface="Aptos Display"/>
                <a:ea typeface="Aptos Display"/>
                <a:cs typeface="Aptos Display"/>
              </a:rPr>
              <a:t>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190A00-3650-404B-A5A9-51854BC3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1600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Defensive synthetic data only</a:t>
            </a:r>
          </a:p>
          <a:p xmlns:a="http://schemas.openxmlformats.org/drawingml/2006/main">
            <a:pPr algn="ctr">
              <a:defRPr sz="1125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Human review required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E5B31F-200F-453A-A69E-4FF89E33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47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4E7D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4E7DD"/>
                </a:solidFill>
                <a:latin typeface="Aptos"/>
                <a:ea typeface="Aptos"/>
                <a:cs typeface="Aptos"/>
              </a:rPr>
              <a:t>2-minute presentation + 1-minute browser demo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D077D7-8926-4F51-A0BE-A4F73899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91250"/>
            <a:ext cx="838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89C2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89C27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https://raw.githack.com/yq688m3JT/genAI_final/a909764e2905cf627550479f619ade84aa52cfa9/docs/demo.html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176284013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B534BA-824D-4638-8D48-94244B1D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0C4AD68-8164-4856-B6EE-75F81BE1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EDB8118-B9B8-4BD2-9059-D1C746E0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CA177-5C3A-4591-8C51-47B33AB1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85725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AML teams need to turn messy laundering records into reusable model-test patterns.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9971B8-3E04-4928-BC0F-63B033EB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0300"/>
            <a:ext cx="7429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Target user: AML algorithm engineers and compliance data scientists responsible for model QA at banks or cross-border payment firms.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4EC91D-067B-4F36-B8AB-9F933C13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34B94F-74C7-486F-8E5B-A6A7C86B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F4AEB7-D23A-41FB-9ADF-0517FCA5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Record 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A8938-CCF7-4D68-B25A-C6C22918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Closed cases and suspicious samples contain repeated behavior.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FF3C0D-E690-4FFA-8797-CA0359353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70DEB2-2550-4B7D-A5EC-12672564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7C31E1-53D2-4E41-8BA1-FAF55E457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FBA750-9631-4723-BA86-FF6A731F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D943A-D7BB-43DC-A09B-A85F2F35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No typology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833655-4278-491F-A300-DC2548BD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pattern is not yet formalized into a reusable test scenario.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C55566-8664-4D1B-8F18-BE7BB1898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2862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493191-0EAB-4DAD-9478-39E889E0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219575"/>
            <a:ext cx="1143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3808CA-89FF-4ED2-A6B9-C9648A01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05200"/>
            <a:ext cx="2266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E6E8DD-C97A-4727-909E-8706645C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528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618694-5654-46EC-91AC-F60C516E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71900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Blind spot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C249E2-F8D6-4098-9A03-B360B48D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Simple amount rules miss behavior distributed across a chain.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147C3D-69EF-42A7-90C5-7F0C14A1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047750"/>
            <a:ext cx="17907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14213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8908A6-0C3F-4E1A-A033-E2776250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3144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Goal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EDCB6B-1A02-4790-AE33-F719FEDA0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657350"/>
            <a:ext cx="13716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reviewed</a:t>
            </a:r>
          </a:p>
          <a:p xmlns:a="http://schemas.openxmlformats.org/drawingml/2006/main">
            <a:pPr algn="ctr">
              <a:def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same day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FAB65B-FABF-428C-86D8-77C9EAAB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52724F-A72F-467A-8048-1E87EA728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1</a:t>
            </a:r>
          </a:p>
        </p:txBody>
      </p:sp>
    </p:spTree>
    <p:extLst>
      <p:ext uri="{BB962C8B-B14F-4D97-AF65-F5344CB8AC3E}">
        <p14:creationId xmlns:p14="http://schemas.microsoft.com/office/powerpoint/2010/main" val="557189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915A1B-30FE-4B96-9740-4CC6C767C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3BD3005B-A87D-4628-8C7B-1F02D2F6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5A049CB-9C33-4C52-A937-E3A75676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APPLICATION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1475C-B99B-4729-97FE-11E885C9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895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SynthAML uses GenAI to detect a candidate typology from suspicious record batches.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A48E5F-72B8-4C8D-B7A7-A66E404E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04E9F-E3E4-4081-AF53-95832CCEF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SynthAML final project | 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E43565-73E1-485E-BF88-E88B9562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552D6-5A90-423F-9F74-35F2D174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E73ECC-CC27-42CF-8344-21FBA899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Self-intake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0CD225-F239-42A2-BDA5-F8E98099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Ingest closed cases, suspicious samples, or analyst notes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A3A42D-6A07-4C04-8256-145FF1ED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A27C2-0FEA-4271-86D7-39E31B31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E5C55E-28F9-4CA4-9D54-E9FD7749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53FDF9-D0A8-4FF7-BF6F-E9BE2E87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E7C66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55C995-CF7C-4059-8744-E87E0C4A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Discover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8FB254-B4AC-4C3B-8961-E870E61D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LLM proposes recurring regions, timing, narratives, and methods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53234A-9CF3-42B0-81A1-6208D74DA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593869-9B03-45B1-BFE1-7D55EF019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E764F3-5405-4FAB-9563-53274058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1F84AB-0B8C-4735-9919-79FD961D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D89C2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4E0184-43A5-449C-A347-13FA6D51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Validate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DB626-00D1-4F61-937D-3A0C54C4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Analyst approves the detected pattern, not hand-written rules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D6585A-7E26-408E-8CFE-0F6E0E23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528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15ECAA-7EDB-4D5B-84FD-CCF8B7FB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76650"/>
            <a:ext cx="1333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8AF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8E21C-7152-491D-ADC3-B78DF565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00350"/>
            <a:ext cx="19431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A6BAE7-DE3F-4B8E-94EB-388E7D3C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400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C44536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A4DEC9-18D2-4726-84FC-E5CF0B06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562350"/>
            <a:ext cx="1581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Evaluate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AC62F0-30E1-4FCB-A8A2-3D49D42B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38600"/>
            <a:ext cx="14668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Compare guided data against a simpler baseline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591A7E-84DF-4C79-913E-AE007639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9353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Design choice: GenAI detects the candidate laundering pattern from messy records. The reviewer validates the inferred typology before synthetic data is generated or exported.</a:t>
            </a:r>
          </a:p>
        </p:txBody>
      </p:sp>
    </p:spTree>
    <p:extLst>
      <p:ext uri="{BB962C8B-B14F-4D97-AF65-F5344CB8AC3E}">
        <p14:creationId xmlns:p14="http://schemas.microsoft.com/office/powerpoint/2010/main" val="74823796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DC7DA2-D411-44B9-916F-FBD1D828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8A4F569-6BAE-4D4D-AD26-6351D7D6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FD3262F-8E11-4967-87C3-876A64EC7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F5D97-9E81-4DEA-A233-7FAD48E7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9535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baseline comparison asks whether GenAI adds value beyond a cheap rule workflow.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4C9CF-0982-4DBB-A0CD-0EA44482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F1D055-4A33-4354-8BC4-C61BDD1D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Source: examples/sample_outputs/evaluation_summary.json |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2F63BF-C9D0-434E-891F-6C4B6589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71700"/>
            <a:ext cx="4572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E6A61"/>
                </a:solidFill>
                <a:latin typeface="Aptos"/>
                <a:ea typeface="Aptos"/>
                <a:cs typeface="Aptos"/>
              </a:rPr>
              <a:t>F1 score on hidden guided test set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9B6A33-BF79-4560-B780-477A6CBF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3F58B4-96D1-4F3D-80FD-6E09EC33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11156E-763D-4595-AC25-F04D6A4B0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241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68FAF8-5886-481C-B5A3-687B65B28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765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8587C2-F431-47D6-A84C-3690A0B0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A306FD-51B6-4DBD-9DDE-8C76B71C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0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5D1B1D-7ACD-4050-88C9-768431CF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62350"/>
            <a:ext cx="76009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58C2F3-5546-4424-937D-7309C40E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514725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44536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C44536"/>
                </a:solidFill>
                <a:latin typeface="Aptos"/>
                <a:ea typeface="Aptos"/>
                <a:cs typeface="Aptos"/>
              </a:rPr>
              <a:t>0.133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374AD6-A5CD-4FA5-9BA3-A54D48C9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8153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C44E2-6CD7-4B76-89D4-7843B15F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9650"/>
            <a:ext cx="3143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What counted as good 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B4B657-A4BC-4366-864A-FA03B9B27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0C2529-FF02-4AA7-9EB6-AC34A27D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Chains preserve fund conservation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ABA01-6DDD-4B21-99AD-6059F518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5286AB-4A53-40E7-AA80-EEE738B5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Suspicious activity is not just a large amount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7F8460-C050-4374-A02A-4F62E969C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95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DE7962-010F-43CC-9C33-2756630B8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006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Human reviewer can inspect the detected pattern and records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912602-77E8-42C2-8D9B-BEA1CEBF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5621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328908-FB98-4380-BB99-AFC1E374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19375"/>
            <a:ext cx="914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F1E553-B28B-41B5-85FF-24E9FC6D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90850"/>
            <a:ext cx="1143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1.000</a:t>
            </a:r>
          </a:p>
          <a:p xmlns:a="http://schemas.openxmlformats.org/drawingml/2006/main">
            <a:pPr algn="ctr">
              <a:def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vs 0.074</a:t>
            </a:r>
          </a:p>
        </p:txBody>
      </p:sp>
    </p:spTree>
    <p:extLst>
      <p:ext uri="{BB962C8B-B14F-4D97-AF65-F5344CB8AC3E}">
        <p14:creationId xmlns:p14="http://schemas.microsoft.com/office/powerpoint/2010/main" val="1904827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8EA699-2945-4C5B-85E4-30BDF29F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DB8F06D-EC37-4032-B9F0-E5B96710F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C18417A-FE35-4151-B342-3C291495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WHY THIS WORKFLOW MATTERS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ADD103-72CC-4474-AE65-0CB9459C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real bottleneck is detecting a reusable laundering pattern from messy case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7837F4-9E25-4588-AD51-E73BB336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670384-72B2-4E57-BC87-61F790656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F5B98A-8739-41D6-8DBC-932208A4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621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13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D181E-1EED-4A23-BBB8-51898E7C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E6D0C-27D0-4D69-9452-6580B949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9431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Status quo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6E066-A2CC-4F4B-8C85-74D72A8E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362200"/>
            <a:ext cx="695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An analyst reviews case records, notices similarities, and manually drafts a test scenario or rule.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B76B2C-F268-4FBA-9798-D3041A8D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575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5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F42187-AFAE-47E7-AF36-96D22949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3909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3C5768-A8F4-466C-ACC4-AE254716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385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Risk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EED6FE-09ED-4B2D-8216-06DB07FBA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57600"/>
            <a:ext cx="695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resulting data can overfit high amounts and miss multi-step chains.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7816C6-EE7C-4B84-BBC0-27D01C3B6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52950"/>
            <a:ext cx="609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992830-9C6A-458D-B872-0142245F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86300"/>
            <a:ext cx="2667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72AF7-0F61-48ED-96D2-978AAD27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3390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SynthAML shift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AD4E2A-5655-4EC5-A6B5-43038FDA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53000"/>
            <a:ext cx="695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The LLM surfaces a candidate typology, while the reviewer validates the business meaning and evidence.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944574-813E-497A-9038-7F926963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266950"/>
            <a:ext cx="16764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B"/>
          </a:solidFill>
          <a:ln xmlns:a="http://schemas.openxmlformats.org/drawingml/2006/main" w="9525">
            <a:solidFill>
              <a:srgbClr val="D89C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662677-6725-4EC2-864E-7E47A0A9C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05100"/>
            <a:ext cx="1143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875B11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875B11"/>
                </a:solidFill>
                <a:latin typeface="Aptos Display"/>
                <a:ea typeface="Aptos Display"/>
                <a:cs typeface="Aptos Display"/>
              </a:rPr>
              <a:t>Human validation stays central</a:t>
            </a:r>
          </a:p>
        </p:txBody>
      </p:sp>
    </p:spTree>
    <p:extLst>
      <p:ext uri="{BB962C8B-B14F-4D97-AF65-F5344CB8AC3E}">
        <p14:creationId xmlns:p14="http://schemas.microsoft.com/office/powerpoint/2010/main" val="85658500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82D01A-E0D7-4A2B-A19A-06143AA8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A04DB903-16F3-48BE-A339-F264D16A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2A0F71B-13D4-4802-8FA1-6E9752B7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WHAT THE APP DOES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57DC0-0C96-4E3C-9120-D9C85F9B4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The application is a workbench for one narrow workflow: record-driven pattern discovery to model QA export.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9794D1-357D-4C29-BA91-161491D5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6AD782-75B1-4B70-95CF-EBC7A026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18B9F9-0E26-4205-A354-66C6BA79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B99DBF-D80A-476D-82CC-7845309C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431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1. Record self-intake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F28B7B-D0FD-462A-A272-4B0213B3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431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Load suspicious records, closed case notes, or analyst-labeled samples.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4DDC8-D556-421D-8F54-79B836FB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2DC060-E067-4202-B0EB-613AA73F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2. Pattern discovery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2F2657-6551-483A-A979-FAB37689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Let the LLM infer recurring regions, timing, narratives, counterparties, and split behavior.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639F3A-46B7-4CF0-87FE-61359E8A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B2FB62-CB1F-4C20-9821-D63A74B9B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3. Human 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9CE089-3674-41DB-BD01-C7309F1C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5052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Approve the detected typology only when it matches the evidence and business context.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BE1A9-835A-4F0F-AF0E-5D3E4C5E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6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C60CBD-9026-4611-AD25-CEFECAAF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4. Ledger analysis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30D853-D250-4497-9C8E-EB032BEA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8625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Filter and inspect transaction rows, chain IDs, labels, and risk signals.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FBDD1B-B361-4F52-A9BD-A7333C23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5CEF3E-4FF3-48DE-B422-08964E26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6730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5. Evaluation + export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640FD1-577E-406E-BABB-ACC1A47B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673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Compare against the baseline and download the QA package.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E95B1A-23D0-42D3-B5C8-A2B8C661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8293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3D40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D405B"/>
                </a:solidFill>
                <a:latin typeface="Aptos"/>
                <a:ea typeface="Aptos"/>
                <a:cs typeface="Aptos"/>
              </a:rPr>
              <a:t>Commercial framing: this is not a rule form. It is a structured operating surface for LLM-assisted pattern discovery with human governance.</a:t>
            </a:r>
          </a:p>
        </p:txBody>
      </p:sp>
    </p:spTree>
    <p:extLst>
      <p:ext uri="{BB962C8B-B14F-4D97-AF65-F5344CB8AC3E}">
        <p14:creationId xmlns:p14="http://schemas.microsoft.com/office/powerpoint/2010/main" val="134246267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35B0643-3925-433B-9CCB-C73020C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8258857-6DA2-4CBA-A456-E9DAA99F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C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2C4DF32-C4DE-4D13-9DCB-5556141D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E7C66"/>
                </a:solidFill>
                <a:latin typeface="Aptos"/>
                <a:ea typeface="Aptos"/>
                <a:cs typeface="Aptos"/>
              </a:rPr>
              <a:t>LIVE DEMO 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A86D77-2AE9-4576-986D-7A94175D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4213D"/>
                </a:solidFill>
                <a:latin typeface="Aptos Display"/>
                <a:ea typeface="Aptos Display"/>
                <a:cs typeface="Aptos Display"/>
              </a:rPr>
              <a:t>In the final minute, open the browser workbench and show the workflow live.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7870F4-FFB9-40F9-868C-5321EEF4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436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0C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A8615C-AF8D-4E11-875C-134AF010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57950"/>
            <a:ext cx="3238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E6A6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E6A61"/>
                </a:solidFill>
                <a:latin typeface="Aptos"/>
                <a:ea typeface="Aptos"/>
                <a:cs typeface="Aptos"/>
              </a:rPr>
              <a:t>Artifact walkthrough | 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FB68F7-1DEA-4925-8393-7E134ABB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4310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F0A955-5608-441B-9CA4-A27F39C3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1145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Record self-intake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03AAB2-F647-4FE8-BD0C-8CFD0244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1460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sample laundering records and run pattern discovery.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BFA103-7B29-4E36-9309-4B1929A8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4310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AEBBB0-9038-4080-90DE-2946F93F2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145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Pattern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41A38B-386E-4356-B6D1-142ACBBA2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1460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detected typology and human validation gate.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277EEE-46D5-463C-ADE3-22B74D54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A4824E-BBC1-4279-962A-36BF8B07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814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Ledger + 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2419CE-FECA-4320-BC6C-DBC0BA45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8145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Filter suspicious chains, then show baseline comparison.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4CAA6B-2503-48FF-8BC4-8D6AE9EB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9950"/>
            <a:ext cx="4552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C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F2C4FA-B917-47D6-BFE6-C5F60D1E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8140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4C1A3A-EB2A-48EB-BDC4-6825D256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81450"/>
            <a:ext cx="39243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D4A4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D4A43"/>
                </a:solidFill>
                <a:latin typeface="Aptos"/>
                <a:ea typeface="Aptos"/>
                <a:cs typeface="Aptos"/>
              </a:rPr>
              <a:t>Show the guided CSV, baseline CSV, and evaluation JSON package.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3B1B7F-3B3D-4EC6-8E53-39D7BA1D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200650"/>
            <a:ext cx="7086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D3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ED2A71-961A-4A99-A45E-C467979C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314950"/>
            <a:ext cx="58293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7F3EA"/>
                </a:solidFill>
                <a:latin typeface="Aptos"/>
                <a:ea typeface="Aptos"/>
                <a:cs typeface="Aptos"/>
              </a:rPr>
              <a:t>CLICK HERE FOR LIVE BROWSER 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57E311-2E0D-4310-8C92-EC50423B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886450"/>
            <a:ext cx="82677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0">
                <a:solidFill>
                  <a:srgbClr val="0E7C6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0E7C66"/>
                </a:solidFill>
                <a:latin typeface="Aptos"/>
                <a:ea typeface="Aptos"/>
                <a:cs typeface="Aptos"/>
                <a:hlinkClick xmlns:r="http://schemas.openxmlformats.org/officeDocument/2006/relationships" r:id="rIdSynthAMLDemo"/>
              </a:rPr>
              <a:t>https://raw.githack.com/yq688m3JT/genAI_final/a909764e2905cf627550479f619ade84aa52cfa9/docs/demo.html</a:t>
            </a:r>
          </a:p>
        </p:txBody>
      </p:sp>
    </p:spTree>
    <p:extLst>
      <p:ext uri="{BB962C8B-B14F-4D97-AF65-F5344CB8AC3E}">
        <p14:creationId xmlns:p14="http://schemas.microsoft.com/office/powerpoint/2010/main" val="8172361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2026-05-11T14:03:48.4640000Z</dcterms:created>
  <dcterms:modified xsi:type="dcterms:W3CDTF">2026-05-11T14:03:48.4640000Z</dcterms:modified>
</coreProperties>
</file>