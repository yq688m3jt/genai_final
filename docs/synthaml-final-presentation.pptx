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c598cc49b14971" /><Relationship Type="http://schemas.openxmlformats.org/officeDocument/2006/relationships/extended-properties" Target="/docProps/app.xml" Id="Ree93a7d5aa0946e6" /><Relationship Type="http://schemas.openxmlformats.org/officeDocument/2006/relationships/officeDocument" Target="/ppt/presentation.xml" Id="R773f439272094d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32aef149404ab5"/>
  </p:sldMasterIdLst>
  <p:notesMasterIdLst>
    <p:notesMasterId xmlns:r="http://schemas.openxmlformats.org/officeDocument/2006/relationships" r:id="R2a7e0897705e4a9d"/>
  </p:notesMasterIdLst>
  <p:sldIdLst>
    <p:sldId xmlns:r="http://schemas.openxmlformats.org/officeDocument/2006/relationships" id="256" r:id="R191563577b6541a1"/>
    <p:sldId xmlns:r="http://schemas.openxmlformats.org/officeDocument/2006/relationships" id="257" r:id="R94c7606e7bb947ee"/>
    <p:sldId xmlns:r="http://schemas.openxmlformats.org/officeDocument/2006/relationships" id="258" r:id="Ra9c49bdae178414f"/>
    <p:sldId xmlns:r="http://schemas.openxmlformats.org/officeDocument/2006/relationships" id="259" r:id="Rb9fd0d72026e43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32aef149404ab5" /><Relationship Type="http://schemas.openxmlformats.org/officeDocument/2006/relationships/theme" Target="/ppt/theme/theme1.xml" Id="Rf2bced0cdda1470a" /><Relationship Type="http://schemas.openxmlformats.org/officeDocument/2006/relationships/notesMaster" Target="/ppt/notesMasters/notesMaster1.xml" Id="R2a7e0897705e4a9d" /><Relationship Type="http://schemas.openxmlformats.org/officeDocument/2006/relationships/presProps" Target="/ppt/presProps.xml" Id="Rcfeb182e75e5413d" /><Relationship Type="http://schemas.openxmlformats.org/officeDocument/2006/relationships/viewProps" Target="/ppt/viewProps.xml" Id="R02c97146fbb34a37" /><Relationship Type="http://schemas.openxmlformats.org/officeDocument/2006/relationships/tableStyles" Target="/ppt/tableStyles.xml" Id="R84536f97832d4335" /><Relationship Type="http://schemas.openxmlformats.org/officeDocument/2006/relationships/slide" Target="/ppt/slides/slide1.xml" Id="R191563577b6541a1" /><Relationship Type="http://schemas.openxmlformats.org/officeDocument/2006/relationships/slide" Target="/ppt/slides/slide2.xml" Id="R94c7606e7bb947ee" /><Relationship Type="http://schemas.openxmlformats.org/officeDocument/2006/relationships/slide" Target="/ppt/slides/slide3.xml" Id="Ra9c49bdae178414f" /><Relationship Type="http://schemas.openxmlformats.org/officeDocument/2006/relationships/slide" Target="/ppt/slides/slide4.xml" Id="Rb9fd0d72026e43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973b43f4d5643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bc7ec5b7dd4057" /><Relationship Type="http://schemas.openxmlformats.org/officeDocument/2006/relationships/notesMaster" Target="/ppt/notesMasters/notesMaster1.xml" Id="Rd1b4b4f1dc104c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60faf096d54440" /><Relationship Type="http://schemas.openxmlformats.org/officeDocument/2006/relationships/notesMaster" Target="/ppt/notesMasters/notesMaster1.xml" Id="R55b75ad0464e48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37e5fbcffb4244" /><Relationship Type="http://schemas.openxmlformats.org/officeDocument/2006/relationships/notesMaster" Target="/ppt/notesMasters/notesMaster1.xml" Id="Rcb575f03bc334b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280bb1cc464df3" /><Relationship Type="http://schemas.openxmlformats.org/officeDocument/2006/relationships/notesMaster" Target="/ppt/notesMasters/notesMaster1.xml" Id="Rf69d318f942449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4f5a93a66a4ba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1bd9ae187764fb0" /><Relationship Type="http://schemas.openxmlformats.org/officeDocument/2006/relationships/slideLayout" Target="/ppt/slideLayouts/slideLayout2.xml" Id="R1e70c2a846664d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70c2a846664d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dca593da2c4307" /><Relationship Type="http://schemas.openxmlformats.org/officeDocument/2006/relationships/notesSlide" Target="/ppt/notesSlides/notesSlide1.xml" Id="Rf0d73c6233d745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729b7a3a3d4203" /><Relationship Type="http://schemas.openxmlformats.org/officeDocument/2006/relationships/notesSlide" Target="/ppt/notesSlides/notesSlide2.xml" Id="R12a50ba831bd41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b8d60a14b940f2" /><Relationship Type="http://schemas.openxmlformats.org/officeDocument/2006/relationships/notesSlide" Target="/ppt/notesSlides/notesSlide3.xml" Id="R9d9692223e0748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5c922d180f4c59" /><Relationship Type="http://schemas.openxmlformats.org/officeDocument/2006/relationships/notesSlide" Target="/ppt/notesSlides/notesSlide4.xml" Id="R41c6a4e8a2df4c3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777955-DD65-4569-AEB3-20C7D721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AE151B2-0D7B-4739-B734-744B0F60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153CA4C-6598-4D62-81D3-6B9687CB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F2B62-AE51-464F-ABD9-5593359E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New AML typologies create a data cold start before models can learn the pattern.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A8D7F-F991-4E17-A7CA-6478BEFF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at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0DB21-A85E-4BD6-A259-7608B7AD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7B0D28-348C-45F7-9B2B-553DBCA0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CA29D2-CD83-437E-A228-3DC09286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Regulator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A1792-4164-4A11-8A78-73BC95E4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prose report describes a new shell-company trade pattern.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B653D-60E1-4DCF-9CA6-C580BEC6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3E3F0-51B7-41A5-A96E-BD89E3DA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1F07AC-8486-4A33-9011-B0884FA2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5FFF0D-DE3B-4E89-B73C-054336A0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99CB6-5AF9-4738-BC53-797B7AFA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7F0FB4-6B57-4EF4-8CB1-78B9F352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bank has no historical examples for the typology.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86D22-29E7-4BC3-A35D-6A0321C8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535515-F687-435A-8080-89C88ADC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B65219-1D12-4084-8B9F-28C78951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7F3D1C-DC0D-40C8-AF19-742F43B0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DB3A00-D3E4-4800-8F67-6AAE378B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Model 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A93C67-4135-44DC-A529-483837FE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Threshold rules miss behavior spread across a transaction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B461B5-7325-4B24-A5EC-E062B61A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E8009E-0FDF-4AD4-B548-B3AF077C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6C7007-57DF-4877-BC65-FEA89E15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days,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not months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117A2B-BEB4-4360-AEE5-5A64B0AD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32650B-914D-45B8-9E39-69030BEE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165828132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C11542-D641-4D95-8647-FA2CECAE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43F97F9-1A35-41D2-BDC0-78255A17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22031C5-6C8C-4295-A953-706A1DF3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D839D8-FBCA-4C60-90AD-AF4480E2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converts a warning into structured constraints, then into labeled synthetic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EE0FF9-62E3-4CCB-BC57-8AE9B84F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D1D52-8683-4C46-9CB4-47DC4D52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25A2F-ED26-4061-974E-B03214BF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9A1A2-EADC-40A5-B468-0592D93E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3F27E6-19CD-435D-B7E3-3081B9F9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Paste warning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4DE77E-67F8-48C1-897C-F9D0DE07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Regulatory prose or short case 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A844C3-F043-4072-9792-44229973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D7056-9579-4FCB-A8D9-A9AECB54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D5254C-5C96-45EE-A787-29649744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5CEA98-46B8-4F6F-81A0-635B0BCD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87C8EF-9683-40EF-B498-A0A4685C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Extract typology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D406B5-A8BD-4318-9EDE-8FE277F7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Industry, regions, amount range, timing, narratives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84578-D9D1-4362-8BB6-C91324D4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BD7EF5-3665-4015-B317-0038A5B9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0BF391-F62D-4685-9DE4-E36683BD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7E4982-8ED2-474C-A958-98413A0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6E1713-9F50-4448-9E4B-98AF1FCA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 chains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7B14E-4AFB-433C-97A9-1930A48D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Funding transfer plus rapid split payments with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8ADC61-23B7-43AD-B654-F86EE3D8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514628-24B2-4B55-9F51-07103EC8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7283CB-1163-4869-9834-F328358F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CF5686-80DA-4659-9359-0375A945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94352A-E275-4372-B424-0A4AD395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 results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D89326-8ACD-42C9-AA7D-AA2E4D6E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Conservation checks, baseline comparison, 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D43F15-6328-426F-A692-A096BAB2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the GenAI step is the translation from unstructured compliance prose into structured generation constraints. A deterministic fallback keeps grading reproducible without an API key.</a:t>
            </a:r>
          </a:p>
        </p:txBody>
      </p:sp>
    </p:spTree>
    <p:extLst>
      <p:ext uri="{BB962C8B-B14F-4D97-AF65-F5344CB8AC3E}">
        <p14:creationId xmlns:p14="http://schemas.microsoft.com/office/powerpoint/2010/main" val="12450385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6CB503-E93D-4EF7-B52E-465A359B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2F4F25D-A14B-4989-9795-1336B5CB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01B26F6-FE33-4388-8BB6-E191F7C0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A94A1D-55E2-4049-8901-4B4A0B63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Guided chain-style training data beat the threshold baseline on hidden typology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45DE86-F379-4A22-8DDF-4BA177A7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6B74C-D8BB-43C5-B538-9EE9F33A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7987B-08EC-46E2-B97D-BDDA59FB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760E1B-B437-443A-B40F-879EA7CC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92BD1-D95C-461C-8CEC-E060AC62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E71D1-6EA0-405B-B065-4977471F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F9E491-33AA-4B9D-9D03-5574CE77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1FA034-B5EC-48ED-B3B8-49745BA5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58AD2-77BC-4722-A31E-2DD369CE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C8663F-5732-4EC7-AEA0-FCDAF542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971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96CE4-3231-491E-AA6A-333C7846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0.170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27DBB6-73FD-4A39-9C49-2FC00855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BAE89C-3EDD-4FD1-B4C8-6D18DB49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EAB1FD-0C88-4EF2-AE21-8E35CDD8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0C050B-894C-4AE5-9F23-577B2E84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C5D617-CDAA-4E54-A4FD-327021D1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49705D-ED56-4F88-81F5-DFBCF5EC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F5ADC5-419A-4068-9C32-1B777B2D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BA990C-0E5F-44C7-8B2B-48D2D21B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251A95-4944-46B7-9C54-02A99BF4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6731C4-D0FC-4DA2-845D-23EB0024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BDE20C-4BA1-4DFB-892F-59FF0351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0.098</a:t>
            </a:r>
          </a:p>
        </p:txBody>
      </p:sp>
    </p:spTree>
    <p:extLst>
      <p:ext uri="{BB962C8B-B14F-4D97-AF65-F5344CB8AC3E}">
        <p14:creationId xmlns:p14="http://schemas.microsoft.com/office/powerpoint/2010/main" val="4538307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8B86B2-5D17-45FA-BF33-95D7D59A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57C564D-B15C-4513-A6E1-18488C3B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0E96618-1AE8-4817-929A-F5D238FD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5C6037-62CA-46DC-8BA5-8EB1FA56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572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demo shows the artifact is usable: paste, generate, evaluate,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918E3-C406-4ABC-8BD6-A1F88102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82918-E7F2-4A62-8488-E0F4A53C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Demo playthrough |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7CBF38-F116-42AE-B8EB-C842C5EC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rPr>
              <a:t>0:00-0:15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F99372-C917-453F-9E09-7C72B181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4955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B2761F-72E8-44D6-A897-24F2CB7B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4315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Open app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825DA0-5866-418B-B494-B0EB6CBB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8125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SynthAML running at localhost and the sample warning text.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FBDF9A-E25A-4BF1-9EDE-9B05E033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rPr>
              <a:t>0:15-0:30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B38124-7676-4EAF-9DAE-5323A042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31470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4646C1-F47F-4D16-9FEE-55AF92DD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Inspect typology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B19673-C594-4B45-8CE4-17B9FA6B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0040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Point to extracted regions, narratives, methods, and amount range.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117EAB-1A5F-4C23-9E22-A56A3487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rPr>
              <a:t>0:30-0:45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49C1B4-B6A7-41EA-9D98-5E0CABBE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338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F50783-1615-4811-9456-D0EA1536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8145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Generated 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D6197C-9F35-410A-8D85-305A8559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1955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labeled records plus the timing or amount chart.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FD8572-297D-4DD9-91A2-35587B16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387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rPr>
              <a:t>0:45-1:00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81981-6AE3-49A8-8C91-FDED5B53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5300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F632BB-E1ED-4D4F-8FB7-49655D0F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006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Evaluate/export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0A17BD-1EA5-4C9C-81C6-82CCB9BF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3870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Open Evaluation tab, show baseline gap, then download CSV.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C47A99-6CE5-462D-8D70-49DBEC28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9144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6EF856-0BFF-4470-B562-07997346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066800"/>
            <a:ext cx="190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Close with: human review stays in the loop.</a:t>
            </a:r>
          </a:p>
        </p:txBody>
      </p:sp>
    </p:spTree>
    <p:extLst>
      <p:ext uri="{BB962C8B-B14F-4D97-AF65-F5344CB8AC3E}">
        <p14:creationId xmlns:p14="http://schemas.microsoft.com/office/powerpoint/2010/main" val="167863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2026-05-11T07:53:39.0880000Z</dcterms:created>
  <dcterms:modified xsi:type="dcterms:W3CDTF">2026-05-11T07:53:39.0880000Z</dcterms:modified>
</coreProperties>
</file>