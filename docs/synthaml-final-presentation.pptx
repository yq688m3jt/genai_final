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9cc04a48a3436e" /><Relationship Type="http://schemas.openxmlformats.org/officeDocument/2006/relationships/extended-properties" Target="/docProps/app.xml" Id="Rd898e796945c4870" /><Relationship Type="http://schemas.openxmlformats.org/officeDocument/2006/relationships/officeDocument" Target="/ppt/presentation.xml" Id="Ra957a19133e64c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24b16acde44892"/>
  </p:sldMasterIdLst>
  <p:notesMasterIdLst>
    <p:notesMasterId xmlns:r="http://schemas.openxmlformats.org/officeDocument/2006/relationships" r:id="R3685d0eae5ba4cdd"/>
  </p:notesMasterIdLst>
  <p:sldIdLst>
    <p:sldId xmlns:r="http://schemas.openxmlformats.org/officeDocument/2006/relationships" id="256" r:id="Rb55482e210a149cb"/>
    <p:sldId xmlns:r="http://schemas.openxmlformats.org/officeDocument/2006/relationships" id="257" r:id="R3b098815bf6b485c"/>
    <p:sldId xmlns:r="http://schemas.openxmlformats.org/officeDocument/2006/relationships" id="258" r:id="R400cfa604c694247"/>
    <p:sldId xmlns:r="http://schemas.openxmlformats.org/officeDocument/2006/relationships" id="259" r:id="Ra423dbf430bc41c4"/>
    <p:sldId xmlns:r="http://schemas.openxmlformats.org/officeDocument/2006/relationships" id="260" r:id="R5313e6f2eb734d4d"/>
    <p:sldId xmlns:r="http://schemas.openxmlformats.org/officeDocument/2006/relationships" id="261" r:id="R52067972c56442f0"/>
    <p:sldId xmlns:r="http://schemas.openxmlformats.org/officeDocument/2006/relationships" id="262" r:id="R71d16ffba2bf45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24b16acde44892" /><Relationship Type="http://schemas.openxmlformats.org/officeDocument/2006/relationships/theme" Target="/ppt/theme/theme1.xml" Id="R5cb7423a07c746f2" /><Relationship Type="http://schemas.openxmlformats.org/officeDocument/2006/relationships/notesMaster" Target="/ppt/notesMasters/notesMaster1.xml" Id="R3685d0eae5ba4cdd" /><Relationship Type="http://schemas.openxmlformats.org/officeDocument/2006/relationships/presProps" Target="/ppt/presProps.xml" Id="Rafb65332c3a0492c" /><Relationship Type="http://schemas.openxmlformats.org/officeDocument/2006/relationships/viewProps" Target="/ppt/viewProps.xml" Id="R99c8b75b52f74402" /><Relationship Type="http://schemas.openxmlformats.org/officeDocument/2006/relationships/tableStyles" Target="/ppt/tableStyles.xml" Id="Rb6c9c2ea08a242a2" /><Relationship Type="http://schemas.openxmlformats.org/officeDocument/2006/relationships/slide" Target="/ppt/slides/slide1.xml" Id="Rb55482e210a149cb" /><Relationship Type="http://schemas.openxmlformats.org/officeDocument/2006/relationships/slide" Target="/ppt/slides/slide2.xml" Id="R3b098815bf6b485c" /><Relationship Type="http://schemas.openxmlformats.org/officeDocument/2006/relationships/slide" Target="/ppt/slides/slide3.xml" Id="R400cfa604c694247" /><Relationship Type="http://schemas.openxmlformats.org/officeDocument/2006/relationships/slide" Target="/ppt/slides/slide4.xml" Id="Ra423dbf430bc41c4" /><Relationship Type="http://schemas.openxmlformats.org/officeDocument/2006/relationships/slide" Target="/ppt/slides/slide5.xml" Id="R5313e6f2eb734d4d" /><Relationship Type="http://schemas.openxmlformats.org/officeDocument/2006/relationships/slide" Target="/ppt/slides/slide6.xml" Id="R52067972c56442f0" /><Relationship Type="http://schemas.openxmlformats.org/officeDocument/2006/relationships/slide" Target="/ppt/slides/slide7.xml" Id="R71d16ffba2bf45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c0b31f6089243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a11a2119b6445c" /><Relationship Type="http://schemas.openxmlformats.org/officeDocument/2006/relationships/notesMaster" Target="/ppt/notesMasters/notesMaster1.xml" Id="R7774c7b9682741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8e7e1cfbc6464a" /><Relationship Type="http://schemas.openxmlformats.org/officeDocument/2006/relationships/notesMaster" Target="/ppt/notesMasters/notesMaster1.xml" Id="Rd18ad48358a143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939c57721c4b86" /><Relationship Type="http://schemas.openxmlformats.org/officeDocument/2006/relationships/notesMaster" Target="/ppt/notesMasters/notesMaster1.xml" Id="Rd3dd1e4c89c94d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928c4dc38c400d" /><Relationship Type="http://schemas.openxmlformats.org/officeDocument/2006/relationships/notesMaster" Target="/ppt/notesMasters/notesMaster1.xml" Id="Rc40775eb679a4e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694f08782a4962" /><Relationship Type="http://schemas.openxmlformats.org/officeDocument/2006/relationships/notesMaster" Target="/ppt/notesMasters/notesMaster1.xml" Id="R2f0357c6d3fb42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45298ded6045d6" /><Relationship Type="http://schemas.openxmlformats.org/officeDocument/2006/relationships/notesMaster" Target="/ppt/notesMasters/notesMaster1.xml" Id="Rabcad889e4dd41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ef6c0b3f5c46bc" /><Relationship Type="http://schemas.openxmlformats.org/officeDocument/2006/relationships/notesMaster" Target="/ppt/notesMasters/notesMaster1.xml" Id="R19ea029114a146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3acdd4be04f4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133b3c9345c41cc" /><Relationship Type="http://schemas.openxmlformats.org/officeDocument/2006/relationships/slideLayout" Target="/ppt/slideLayouts/slideLayout2.xml" Id="Rae47736345fd4c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47736345fd4c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df0624b4ac4910" /><Relationship Type="http://schemas.openxmlformats.org/officeDocument/2006/relationships/notesSlide" Target="/ppt/notesSlides/notesSlide1.xml" Id="R7407f7e4d7df4bdf" /><Relationship Type="http://schemas.openxmlformats.org/officeDocument/2006/relationships/hyperlink" Target="https://raw.githack.com/yq688m3JT/genAI_final/96f03dbb7ecf9a5f13d39b6a0f8c61218ea87962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e2f5eaa95e4d96" /><Relationship Type="http://schemas.openxmlformats.org/officeDocument/2006/relationships/notesSlide" Target="/ppt/notesSlides/notesSlide2.xml" Id="Rae36ee044b5148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47ab81edd74fb9" /><Relationship Type="http://schemas.openxmlformats.org/officeDocument/2006/relationships/notesSlide" Target="/ppt/notesSlides/notesSlide3.xml" Id="Rbae37c781d234c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d4c0c1233d4664" /><Relationship Type="http://schemas.openxmlformats.org/officeDocument/2006/relationships/notesSlide" Target="/ppt/notesSlides/notesSlide4.xml" Id="Re4e46e8c7b8a4f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2cf1e9a3724531" /><Relationship Type="http://schemas.openxmlformats.org/officeDocument/2006/relationships/notesSlide" Target="/ppt/notesSlides/notesSlide5.xml" Id="Re0d54b6dc53444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ea009bf433405f" /><Relationship Type="http://schemas.openxmlformats.org/officeDocument/2006/relationships/notesSlide" Target="/ppt/notesSlides/notesSlide6.xml" Id="Rf78ec6113f924e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58d1e5e27a46bf" /><Relationship Type="http://schemas.openxmlformats.org/officeDocument/2006/relationships/notesSlide" Target="/ppt/notesSlides/notesSlide7.xml" Id="R55eaba89a13540ea" /><Relationship Type="http://schemas.openxmlformats.org/officeDocument/2006/relationships/hyperlink" Target="https://raw.githack.com/yq688m3JT/genAI_final/96f03dbb7ecf9a5f13d39b6a0f8c61218ea87962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C1A703-3F52-425E-B8BD-20635F4B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20C46-075D-40AC-A683-A979D08B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87979-E524-4DB6-8D72-1A050799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E4596-6D61-40C2-993D-9B417878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EF540-8DB1-4390-8817-9786B706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focused GenAI workflow for detecting candidate laundering patterns from records and turning them into model QA packages.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1B3368-7714-414C-91D1-EBEECFF1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4406F-3B34-4369-9353-13FBFC4F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EC45D1-F5CF-4965-A134-AAEC84D3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60E06-84D9-4602-9700-623E6CFA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A2460-77B6-4B89-BF92-5CFE7780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Records to QA package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5DDC99-C014-40E8-BB12-C7B7DA1F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006DF-B416-43C3-9EFD-E53A714B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62D8D-DBFA-4A0C-8A27-82D908B8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0A97A7-BAF1-44E5-932E-299D330F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F83B54-8437-48FB-A8B6-C16A656A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9B2735-D7E9-4FAB-AF50-38D8C1BD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0E7F76-FA45-40E8-ABB1-CB17E5A3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https://raw.githack.com/yq688m3JT/genAI_final/96f03dbb7ecf9a5f13d39b6a0f8c61218ea87962/docs/demo.html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2270358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0F64D5-79A1-4326-B937-137AB4FC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D6A93DE-F506-4B41-A8B9-F6601FF2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3276053-9CB6-49F2-8687-714BF58B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843209-C71D-438E-87DE-572BF06F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AML teams need to turn messy laundering records into reusable model-test patterns.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0568C-55AA-40BB-B09F-2931A8A2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responsible for model QA at banks or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8F9A80-4DED-4B09-AA39-BA197AC1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938E04-49BC-4251-9CF1-0AAF35E7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B3C9B-601F-45F6-BE77-3ED8D96A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Record 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892F4F-87FE-4700-B155-88E3F005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Closed cases and suspicious samples contain repeated behavior.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9F359-B800-4942-A2FF-2050E1D3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24A53-1051-4060-BC5C-64E8B6D6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980B1-7EAD-460C-9431-CDCBD013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20A30-5A99-42AB-8880-E99949A6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D6374-3D56-43CC-B735-6C894CB8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typology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FE7C64-18C7-44DD-A379-A9A022B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pattern is not yet formalized into a reusable test scenario.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485A3D-8BBA-4E6A-B312-9537FFB5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7E19B3-156B-4C7B-A2DA-C466C176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2A829A-15D3-495D-9CDE-535F73A3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D7EF1-FCD4-43F2-8452-4C288503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FD9FD0-FE80-4E7F-B536-240042BB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496288-83D6-4280-AECC-164D2D83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Simple amount rules miss behavior distributed across a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91DDD0-C837-491F-8E53-63AF47E9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C97353-FFA6-4245-B965-9E1F7CCF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B4E131-396A-4456-A818-81403699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reviewed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same 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EF5F4-C168-475C-95B4-9C359F8A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30ADD9-2F49-4700-9C33-199BB68B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4861290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B5037-190E-4B7B-ADE9-AF73C30C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C2760DE-48F6-4BED-876F-474A2727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E2C9177-9F5F-4E41-A2CB-935B7B34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APPLICATION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896AB-51B3-4B14-9D7D-59803A98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uses GenAI to detect a candidate typology from suspicious record batches.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B1502-000E-4E43-9B6C-E04181F0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AE82B0-6E12-4427-886D-A862E225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AAD0EA-1437-4789-A933-F3EC4F56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7298D-D8B8-49C1-B263-138515B0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8CE02-3123-447F-85F8-FAD515F2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Self-intake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7D1FF-EF79-437B-82E1-728998D2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Ingest closed cases, suspicious samples, or analyst notes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1483B-8773-478A-BBB0-F87E2427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E2D77-F838-4655-B7BA-5A30E4B9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65A379-DEC4-4484-A970-15FB6260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F390EA-4150-4906-9ED6-4A100642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66EF9A-B8C1-4D62-AE5A-35585F9E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2479D-71C2-42C2-BA0D-FEB7BF04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LLM proposes recurring regions, timing, narratives, and methods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0DBA3A-69A9-4273-AC8C-E9EAD077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E41F8-B3FC-4E4B-82E7-1F9BF90C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B0B1A3-F033-400A-8750-6EE0786E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7781FA-E005-4772-9815-4168AA63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A5E6D4-5438-400C-B746-C0203CC7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7C5383-D362-41D7-8D7B-4739A411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Analyst approves the detected pattern, not hand-written rules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2FE10C-AFC8-4F47-9F6A-A52AEED3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7C9062-CDDC-42D4-8B7C-06D94C4E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72F43C-05F4-47AB-875E-B5B1E45E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1C6B17-3665-476D-9E87-A8E366C1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0E6898-F15B-41B8-99E5-E6E101A9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Evaluate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54210-D56A-46F8-A695-CF640A4A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Compare guided data against a simpler baseline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1148C4-48F5-4994-A99E-1FCB97A3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GenAI detects the candidate laundering pattern from messy records. The reviewer validates the inferred typology before synthetic data is generated or exported.</a:t>
            </a:r>
          </a:p>
        </p:txBody>
      </p:sp>
    </p:spTree>
    <p:extLst>
      <p:ext uri="{BB962C8B-B14F-4D97-AF65-F5344CB8AC3E}">
        <p14:creationId xmlns:p14="http://schemas.microsoft.com/office/powerpoint/2010/main" val="11512892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1F89CC-7F07-4B35-8743-76AC9DEB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BA9171B-57AC-44AE-888B-7615CF96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CC0EC12-C9A2-40C8-A1CB-E1D065CE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0C888-AF9A-442F-9CDB-CC0BB8DF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baseline comparison asks whether GenAI adds value beyond a cheap rule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E7BD0-01DF-468B-8706-828BCEC4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D2F318-E093-4971-BA72-77255A10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D6146-1955-4003-8F9F-94453527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0D0B8-7BF2-4D69-83B0-3337A2D5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06CE2-3B9A-4D55-913A-F5D53F8C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5CD230-A3A1-4149-8D27-EBE53E2B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41469-8D60-4CAA-A507-B3918CC0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364E4-0F99-4E6A-B9FC-A5C8ED80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9AB68B-F412-41DD-A85F-1B32770D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7F7A75-AC61-4DFD-BD59-B1EEF65B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9D48B-6D90-414E-85B8-56C74F81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C2F6D5-1C63-4694-889E-ED3DA927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7646A-55D3-499C-B96C-D15142AB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4E0A1-F721-4284-832B-C33AF6B79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27D455-7555-475D-A449-312D21FB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BE6BA5-820F-40CA-BBC2-B2278047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7284A7-3F94-4413-84F7-171EE175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939AB0-EBC9-4F9C-86EF-A9D6F450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FE3EF9-E77B-45D0-8F1A-D06204A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the detected pattern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B68AC5-63D6-4DC1-A6D4-84C14B6D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D77FC0-25D0-4B5D-A1A2-84F4D7CB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95EB4E-F4CA-4AA7-8442-396B7C81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83618544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669E92-EA6E-4371-A479-503AD75A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2029C50-C3AC-4251-B9A5-690312C9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39FFA66-BFDA-4846-90B2-FCD00A2D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WHY THIS WORKFLOW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69C2B-D590-42E9-873A-C3BBD26E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real bottleneck is detecting a reusable laundering pattern from messy case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B5682-9E76-47D0-9DD9-DE74E245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21AFD-0664-4540-B408-9856C70E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A349D-D494-4044-96AC-98DD442A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33487-097B-40ED-805F-3728C426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0B841-90C1-4C49-BBBC-8BBF636E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431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Status quo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59D41A-026F-4A4F-A56E-9599D273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3622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An analyst reviews case records, notices similarities, and manually drafts a test scenario or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1D712-87C2-4CE8-B263-26B1EC77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CB939E-A001-4956-9154-F9AEB9CA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338B8E-4971-432F-B597-27D9896C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385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C7EAE-DC72-4038-9EEE-31FA0F61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576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resulting data can overfit high amounts and miss multi-step chains.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581A47-0326-4AFF-955F-A971A82D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DDAAAD-227E-436A-8F0D-75D4B317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ABEB49-4215-4CDE-A2B9-ABDF0928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339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 shift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233B0F-4DCC-42FF-A9B9-40AE49BA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530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LLM surfaces a candidate typology, while the reviewer validates the business meaning and evidence.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DF7B97-EFD1-41B0-88C9-EB87802B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676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B"/>
          </a:solidFill>
          <a:ln xmlns:a="http://schemas.openxmlformats.org/drawingml/2006/main" w="9525">
            <a:solidFill>
              <a:srgbClr val="D89C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1CAC5-E2AE-4F7B-B6B3-1AC1259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05100"/>
            <a:ext cx="1143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rPr>
              <a:t>Human validation stays central</a:t>
            </a:r>
          </a:p>
        </p:txBody>
      </p:sp>
    </p:spTree>
    <p:extLst>
      <p:ext uri="{BB962C8B-B14F-4D97-AF65-F5344CB8AC3E}">
        <p14:creationId xmlns:p14="http://schemas.microsoft.com/office/powerpoint/2010/main" val="19668850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E2C43F-9D9C-4017-8265-CB86FC91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C250607-FECC-47E5-AA9F-EBE1C811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C7AC452-210C-4FE9-B54C-02647BC2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WHAT THE APP DOES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E84C9-B385-4283-88FF-E86272B6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application is a workbench for one narrow workflow: record-driven pattern discovery to model QA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89B0B-ED17-440A-9448-FA6B3124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C41C35-6418-4F53-9008-8E4862D2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FA5F2-2F2C-40E5-9514-1277BC47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9A40A-E6B8-4F68-BDD4-18BD064E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431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 Record self-intake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C76E42-DFE9-4496-BF2C-1D19B46E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431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Load suspicious records, closed case notes, or analyst-labeled samples.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B138E-8101-4EE3-A71B-FDB8927E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60E21-3692-4137-B98F-F9AADE3D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2. Pattern discovery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91DBA4-8784-4F11-A464-86C4417D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Let the LLM infer recurring regions, timing, narratives, counterparties, and split behavior.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A23F71-AA9B-49B9-AA1C-BD8F8F3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1F7C8E-7DB1-47E7-BF0F-C73BD0E2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3. Human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75306-A44B-48FE-A90D-50E7BFF7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052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Approve the detected typology only when it matches the evidence and business context.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E39D4-4E45-4410-A92C-06504979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C0FA9-01F1-402E-A3BF-9493CDE5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4. Ledger analysis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DA0B47-466D-4BDE-B578-D8A5A8D5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Filter and inspect transaction rows, chain IDs, labels, and risk signals.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174BB-BAEB-43EE-87C8-530460FD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C71B76-68CD-46F0-ACF5-A0218BB2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5. Evaluation + export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D8FF46-F67A-4407-97D1-25E752DC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Compare against the baseline and download the QA package.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5492D-0303-48D2-A053-4A8EE94B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293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Commercial framing: this is not a rule form. It is a structured operating surface for LLM-assisted pattern discovery with human governance.</a:t>
            </a:r>
          </a:p>
        </p:txBody>
      </p:sp>
    </p:spTree>
    <p:extLst>
      <p:ext uri="{BB962C8B-B14F-4D97-AF65-F5344CB8AC3E}">
        <p14:creationId xmlns:p14="http://schemas.microsoft.com/office/powerpoint/2010/main" val="3615467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FA72A8-367B-4B1C-86C9-1EC77CFE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474D59D-B06F-4C8A-B943-2B0DCB61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0A09229-9B6A-4AFE-BE98-33D63CF0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LIVE DEMO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5E6DB-31DE-460C-8330-B351D42F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In the final minute, open the browser workbench and show the workflow live.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717ED-2D4C-4239-A3DA-E7535836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D43EC-7BB3-45B0-AD8B-64D4F130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FB4021-A3B7-4AB6-8E41-5CEC105B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E384B6-1AFE-408A-A07C-40EE5D01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Record self-intake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24FE40-FA38-4F35-B937-1A99A52F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synced case-record queue and run pattern discovery.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F1468-EA03-4103-B157-E468C55E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BCB323-4355-44CE-98E5-7A8F641D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Pattern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5D046-B3E6-4366-94F1-25E1D25B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detected typology and human validation gate.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3449F-B943-425C-9A5A-725196BF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C862D-F466-41FE-9237-DAA13CAF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Ledger +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CA293-CFEA-4E7D-8F50-87AA4B1F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Filter suspicious chains, then show baseline comparison.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084ECE-4DE8-4057-9029-29B418F8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B7B380-480D-4281-9743-00F9E36E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E28048-9FFC-4D6A-812A-C1D42AC4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guided CSV, baseline CSV, and evaluation JSON package.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DA878-6F70-4659-808A-60249F6B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00650"/>
            <a:ext cx="7086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C6116F-F38B-4977-96AB-A45981DF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314950"/>
            <a:ext cx="582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LIVE BROWSER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6B212C-9C3C-4526-BDDA-F2993237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86450"/>
            <a:ext cx="826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https://raw.githack.com/yq688m3JT/genAI_final/96f03dbb7ecf9a5f13d39b6a0f8c61218ea87962/docs/demo.html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495518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2026-05-11T14:13:17.9070000Z</dcterms:created>
  <dcterms:modified xsi:type="dcterms:W3CDTF">2026-05-11T14:13:17.9070000Z</dcterms:modified>
</coreProperties>
</file>