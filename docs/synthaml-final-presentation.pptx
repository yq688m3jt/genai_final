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312cb7538b4a4f" /><Relationship Type="http://schemas.openxmlformats.org/officeDocument/2006/relationships/extended-properties" Target="/docProps/app.xml" Id="R1a39fd4900af4489" /><Relationship Type="http://schemas.openxmlformats.org/officeDocument/2006/relationships/officeDocument" Target="/ppt/presentation.xml" Id="R1b27b714577743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2a54dd9dc24f10"/>
  </p:sldMasterIdLst>
  <p:notesMasterIdLst>
    <p:notesMasterId xmlns:r="http://schemas.openxmlformats.org/officeDocument/2006/relationships" r:id="Rd101621330b74438"/>
  </p:notesMasterIdLst>
  <p:sldIdLst>
    <p:sldId xmlns:r="http://schemas.openxmlformats.org/officeDocument/2006/relationships" id="256" r:id="R7073b1b554d9458c"/>
    <p:sldId xmlns:r="http://schemas.openxmlformats.org/officeDocument/2006/relationships" id="257" r:id="Rc528e8270658499e"/>
    <p:sldId xmlns:r="http://schemas.openxmlformats.org/officeDocument/2006/relationships" id="258" r:id="R1fdf2f2d4412428e"/>
    <p:sldId xmlns:r="http://schemas.openxmlformats.org/officeDocument/2006/relationships" id="259" r:id="R98d82433c44f4584"/>
    <p:sldId xmlns:r="http://schemas.openxmlformats.org/officeDocument/2006/relationships" id="260" r:id="R01b6ba7592974ee4"/>
    <p:sldId xmlns:r="http://schemas.openxmlformats.org/officeDocument/2006/relationships" id="261" r:id="R9a83ae41ffec4f6c"/>
    <p:sldId xmlns:r="http://schemas.openxmlformats.org/officeDocument/2006/relationships" id="262" r:id="Ra67cb06cd0db494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2a54dd9dc24f10" /><Relationship Type="http://schemas.openxmlformats.org/officeDocument/2006/relationships/theme" Target="/ppt/theme/theme1.xml" Id="R21529b6da58449b7" /><Relationship Type="http://schemas.openxmlformats.org/officeDocument/2006/relationships/notesMaster" Target="/ppt/notesMasters/notesMaster1.xml" Id="Rd101621330b74438" /><Relationship Type="http://schemas.openxmlformats.org/officeDocument/2006/relationships/presProps" Target="/ppt/presProps.xml" Id="Rd915da16dc0041af" /><Relationship Type="http://schemas.openxmlformats.org/officeDocument/2006/relationships/viewProps" Target="/ppt/viewProps.xml" Id="Re3a41d4bc87646f5" /><Relationship Type="http://schemas.openxmlformats.org/officeDocument/2006/relationships/tableStyles" Target="/ppt/tableStyles.xml" Id="R5b037bfdd90d41de" /><Relationship Type="http://schemas.openxmlformats.org/officeDocument/2006/relationships/slide" Target="/ppt/slides/slide1.xml" Id="R7073b1b554d9458c" /><Relationship Type="http://schemas.openxmlformats.org/officeDocument/2006/relationships/slide" Target="/ppt/slides/slide2.xml" Id="Rc528e8270658499e" /><Relationship Type="http://schemas.openxmlformats.org/officeDocument/2006/relationships/slide" Target="/ppt/slides/slide3.xml" Id="R1fdf2f2d4412428e" /><Relationship Type="http://schemas.openxmlformats.org/officeDocument/2006/relationships/slide" Target="/ppt/slides/slide4.xml" Id="R98d82433c44f4584" /><Relationship Type="http://schemas.openxmlformats.org/officeDocument/2006/relationships/slide" Target="/ppt/slides/slide5.xml" Id="R01b6ba7592974ee4" /><Relationship Type="http://schemas.openxmlformats.org/officeDocument/2006/relationships/slide" Target="/ppt/slides/slide6.xml" Id="R9a83ae41ffec4f6c" /><Relationship Type="http://schemas.openxmlformats.org/officeDocument/2006/relationships/slide" Target="/ppt/slides/slide7.xml" Id="Ra67cb06cd0db49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d340496ef7044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4500d327044821" /><Relationship Type="http://schemas.openxmlformats.org/officeDocument/2006/relationships/notesMaster" Target="/ppt/notesMasters/notesMaster1.xml" Id="Rd71119c66e234e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e367ed642049d2" /><Relationship Type="http://schemas.openxmlformats.org/officeDocument/2006/relationships/notesMaster" Target="/ppt/notesMasters/notesMaster1.xml" Id="R21de7852111741e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3e69459e38443d" /><Relationship Type="http://schemas.openxmlformats.org/officeDocument/2006/relationships/notesMaster" Target="/ppt/notesMasters/notesMaster1.xml" Id="R96bad1416a4b48d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503ade58504b5d" /><Relationship Type="http://schemas.openxmlformats.org/officeDocument/2006/relationships/notesMaster" Target="/ppt/notesMasters/notesMaster1.xml" Id="R72ee123d6c864a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f52555e4c24bc8" /><Relationship Type="http://schemas.openxmlformats.org/officeDocument/2006/relationships/notesMaster" Target="/ppt/notesMasters/notesMaster1.xml" Id="R48c16a0607b34a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4c70ad1d4ba4c04" /><Relationship Type="http://schemas.openxmlformats.org/officeDocument/2006/relationships/notesMaster" Target="/ppt/notesMasters/notesMaster1.xml" Id="R14b18ded862443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beb16b8a4764d91" /><Relationship Type="http://schemas.openxmlformats.org/officeDocument/2006/relationships/notesMaster" Target="/ppt/notesMasters/notesMaster1.xml" Id="Rbaae638b8bc94a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180a9fa8a74cd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b57849cd3e74d25" /><Relationship Type="http://schemas.openxmlformats.org/officeDocument/2006/relationships/slideLayout" Target="/ppt/slideLayouts/slideLayout2.xml" Id="Reed02ee1b92b40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d02ee1b92b40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e7550fe1b148a2" /><Relationship Type="http://schemas.openxmlformats.org/officeDocument/2006/relationships/notesSlide" Target="/ppt/notesSlides/notesSlide1.xml" Id="Rdbe6b6e6bf214856" /><Relationship Type="http://schemas.openxmlformats.org/officeDocument/2006/relationships/hyperlink" Target="https://htmlpreview.github.io/?https://github.com/yq688m3JT/genAI_final/blob/main/docs/demo.html" TargetMode="External" Id="rIdSynthAMLDemo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912c1d6a3d4cd9" /><Relationship Type="http://schemas.openxmlformats.org/officeDocument/2006/relationships/notesSlide" Target="/ppt/notesSlides/notesSlide2.xml" Id="Rf737f24055b64b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e76d7f85814d2a" /><Relationship Type="http://schemas.openxmlformats.org/officeDocument/2006/relationships/notesSlide" Target="/ppt/notesSlides/notesSlide3.xml" Id="Rd258fbaca5374e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7654fb31ac4956" /><Relationship Type="http://schemas.openxmlformats.org/officeDocument/2006/relationships/notesSlide" Target="/ppt/notesSlides/notesSlide4.xml" Id="R9811e930bd364b2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1f4d8dd7834836" /><Relationship Type="http://schemas.openxmlformats.org/officeDocument/2006/relationships/image" Target="/ppt/media/image.png" Id="Rda97980d2844434a" /><Relationship Type="http://schemas.openxmlformats.org/officeDocument/2006/relationships/notesSlide" Target="/ppt/notesSlides/notesSlide5.xml" Id="R68762bd1152640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13611c411646cd" /><Relationship Type="http://schemas.openxmlformats.org/officeDocument/2006/relationships/image" Target="/ppt/media/image2.png" Id="R8d6e5e069c1c4d93" /><Relationship Type="http://schemas.openxmlformats.org/officeDocument/2006/relationships/notesSlide" Target="/ppt/notesSlides/notesSlide6.xml" Id="R17ad7cf6bd5242d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a2ad386d914dc6" /><Relationship Type="http://schemas.openxmlformats.org/officeDocument/2006/relationships/image" Target="/ppt/media/image3.png" Id="R716c6f24e4904d67" /><Relationship Type="http://schemas.openxmlformats.org/officeDocument/2006/relationships/notesSlide" Target="/ppt/notesSlides/notesSlide7.xml" Id="R88cea51bafcd4e2d" /><Relationship Type="http://schemas.openxmlformats.org/officeDocument/2006/relationships/hyperlink" Target="https://htmlpreview.github.io/?https://github.com/yq688m3JT/genAI_final/blob/main/docs/demo.html" TargetMode="External" Id="rIdSynthAMLDemo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1F6431-CA73-4BA4-8F27-189AD3A4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247148-7971-44AD-B234-E20F3D9C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56A2B6-3159-439E-A7EA-4D28D7D1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4E7DD"/>
                </a:solidFill>
                <a:latin typeface="Aptos"/>
                <a:ea typeface="Aptos"/>
                <a:cs typeface="Aptos"/>
              </a:rPr>
              <a:t>FINAL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AFA3B7-C003-4C2B-B775-322F67C1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609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SynthAML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A85D81-6EB6-4E7B-A2A6-BE6FFC67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7429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A commercial-style GenAI workbench for turning AML typology warnings into synthetic transaction test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B135B7-49D4-4561-A0A6-433AB3A8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4D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8AE6A9-6AD8-4DA7-A5D7-70E22666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3A92B5-18F0-4972-9D4B-08AE89A2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AML model teams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34F692-3E62-46FD-9621-0F51FF9A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52DAE4-4366-426D-9345-2D2EA662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Typology intake to QA export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1DB2CC-9F3A-4B8D-8771-8D28C9BC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B23077-DBF1-4A00-BC56-AEF1CBD5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Guided data vs threshold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99BB6D-DA26-48FD-96C7-19176B19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2573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6579BE-A891-4DAB-B523-33B10BDB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1200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rPr>
              <a:t>SA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26CBFF-8247-4DB8-B88F-F0776458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1600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Defensive synthetic data only</a:t>
            </a:r>
          </a:p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32A11F-2F8C-45A4-8379-134B355C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2-minute presentation + 1-minute browser demo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763AE2-1C9C-4AEA-9D26-61C54B1F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89C27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https://htmlpreview.github.io/?https://github.com/yq688m3JT/genAI_final/blob/main/docs/demo.html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162959790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12FCFD-A299-465B-855D-F2E06015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67018B8-9E64-4498-AA5C-9743595D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F414D0A-82F2-440F-9817-E818AF8D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A4EB11-4A61-48B9-B812-7345884F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8572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New AML typologies create a data cold start before models can learn the pattern.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FABCC-535C-40C6-AD98-E2342074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Target user: AML algorithm engineers and compliance data scientists at cross-border payment firms.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CD1300-CA81-4FB2-A54A-E7C8AEC1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2598D7-7C89-400E-A5F2-31210632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D4B775-FFFF-4402-881D-EF10EDCF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Regulator warning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3DFAC6-7E0F-4D11-BE1D-D099F9E0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 prose report describes a new shell-company trade pattern.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1AF05A-DADF-4AEE-8557-1B751E72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223D3E-F8BB-4E18-B4D2-A55C50B7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A53FA3-B9B1-4682-BA2C-9DCA9F61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445F89-2580-49F4-9042-B8502465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28D61B-91B7-456D-9926-64C5418D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labels yet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48F15E-47B7-4546-A48F-A3054376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bank has no historical examples for the typology.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645047-24B4-4A98-A75A-D9261051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D66B51-B3E0-4EE3-A93D-977007190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DD343E-794F-4A26-B1FD-35A1A2EE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C0DC76-9011-4EF3-BB4A-999EB4C8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79D301-3D39-4F99-9CCC-A9D41AA9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Model blind spot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D2EC71-4326-4A9B-98E2-67271617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Threshold rules miss behavior spread across a transaction chain.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CCC9CC-7780-438F-B112-DB7034247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47750"/>
            <a:ext cx="1790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08BD50-B8A1-457A-85FB-CD3F89EB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3144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38EC48-217F-4DA6-AE35-651BEBD4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573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days,</a:t>
            </a:r>
          </a:p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not months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C3FCEB-16A3-43AD-9994-C4D0A20F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C293E9-6B1F-4D83-A2C7-858FF56A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1</a:t>
            </a:r>
          </a:p>
        </p:txBody>
      </p:sp>
    </p:spTree>
    <p:extLst>
      <p:ext uri="{BB962C8B-B14F-4D97-AF65-F5344CB8AC3E}">
        <p14:creationId xmlns:p14="http://schemas.microsoft.com/office/powerpoint/2010/main" val="213390194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266564-A198-46C7-A96A-BFE3CCE4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198B10E-00AE-47D6-A68F-1D4DEF4B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D48C745-66A5-4B28-AF93-3BA29A07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60CD28-4B71-4656-9F14-661B97A9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8953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SynthAML converts a warning into structured constraints, then into labeled synthetic chains.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BA2513-C0DC-4E92-ABCE-A8A561FD1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8BC09B-357A-4C2B-BB1A-3EE14B04A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4DF80-E79B-41FE-8CD7-DEF018C9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F12E5E-5F6C-4A4E-964E-734C62F4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A8D19A-4E66-498D-ACBC-AF25045A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Paste warning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D32E11-4256-41E2-969E-624C505D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Regulatory prose or short case description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68E1D7-44C4-4768-8AC8-A90F7229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7562AE-4BFF-45B1-9443-2CAE1F6F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1FBEE7-7377-4616-834B-D66F2B07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966E9B-2FC5-4E70-98A5-80296EFB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7723CA-9137-4387-A6C5-901383C14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Extract typology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89A8C7-2738-4222-8EA4-BB282909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Industry, regions, amount range, timing, narratives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74C98D-BFE8-4986-8BEA-82A979FA4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AC09C9-9B4D-4F6C-944A-83D8E8E3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40B36C-2CA7-47FF-A58A-3463955E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B8D1AD-A092-4802-BFFC-1061E2A5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842E13-AB89-4989-B3D9-5AC34D7F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Generate chains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0E48A1-FE60-4EB4-AFD7-2FEF2CCD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Funding transfer plus rapid split payments with noise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614DCE-7BAB-45FF-B5B8-11BB80F1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2DC128-7D84-4721-8C8A-C3FC9DE4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75BD38-1805-404E-AE35-64E4B2FE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8288C1-5F96-41CB-A789-60C4E522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72F842-2876-4646-AFAB-CCF80EA5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Export results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D612F3-8018-4644-9484-D3DAE86D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Conservation checks, baseline comparison, CSV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ABAE1C-873D-4E2D-A78A-CF4996A9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53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Design choice: the GenAI step is the translation from unstructured compliance prose into structured generation constraints. A deterministic fallback keeps grading reproducible without an API key.</a:t>
            </a:r>
          </a:p>
        </p:txBody>
      </p:sp>
    </p:spTree>
    <p:extLst>
      <p:ext uri="{BB962C8B-B14F-4D97-AF65-F5344CB8AC3E}">
        <p14:creationId xmlns:p14="http://schemas.microsoft.com/office/powerpoint/2010/main" val="183198410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628CBB-756C-47C2-B876-05DA0E97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D521910-13E1-402C-8253-0269B00A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35FBF75-1B03-4F95-9756-FDBCA732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933046-58FE-4AA5-ACB9-B2DAC9EF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933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Guided chain-style training data beat the threshold baseline on hidden typology recall.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D7C837-6D93-45A2-BBD9-1C64D698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C09832-DACD-4483-A64E-0D67B02EF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Source: examples/sample_outputs/evaluation_summary.json |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1198B2-4E8E-410F-9934-8C3D908F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457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E6A61"/>
                </a:solidFill>
                <a:latin typeface="Aptos"/>
                <a:ea typeface="Aptos"/>
                <a:cs typeface="Aptos"/>
              </a:rPr>
              <a:t>F1 score on hidden guided test set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FF0B92-02BF-4679-9FDF-46ABF9FFF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BEA270-D0CC-487D-8055-C2370BAD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5FDB48-3BD5-405E-A3A8-3D693623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FAD459-595C-41EB-BDB6-7C0434F0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765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C40FDC-A5B3-41FA-893C-B86B6C23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6F812B-B58E-49A7-B394-AB1A9C1C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4E202F-685C-404D-9761-3C7EB7E1A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76009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8221C8-60E6-4A48-8B53-36FB9BF5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147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44536"/>
                </a:solidFill>
                <a:latin typeface="Aptos"/>
                <a:ea typeface="Aptos"/>
                <a:cs typeface="Aptos"/>
              </a:rPr>
              <a:t>0.133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1767BB-B855-438F-A255-920C7F146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815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8BF01A-DCFD-4F54-8D84-4D021702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counted as good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1C89AB-7666-48F7-86BC-773BF23B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BF35F8-B54C-4CAB-9750-3773B0AB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Chains preserve fund conservation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697C58-9C5E-44B5-A2F7-B7B6FC05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29D0D3-9B9E-4B79-ACA2-49F02C2A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Suspicious activity is not just a large amount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1CB81B-D743-44FA-9A4A-7B806B5BE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D8FDC4-132B-470A-B829-781450D2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Human reviewer can inspect constraints and records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FBAA95-1D3A-4B2C-84EF-64A9C23A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62200"/>
            <a:ext cx="1562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5E1A74-DA96-4B2C-AC77-67E4A7F6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1937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02DA4A-8364-4165-9E6C-C7B5C64F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90850"/>
            <a:ext cx="114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1.000</a:t>
            </a:r>
          </a:p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vs 0.074</a:t>
            </a:r>
          </a:p>
        </p:txBody>
      </p:sp>
    </p:spTree>
    <p:extLst>
      <p:ext uri="{BB962C8B-B14F-4D97-AF65-F5344CB8AC3E}">
        <p14:creationId xmlns:p14="http://schemas.microsoft.com/office/powerpoint/2010/main" val="160630210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784419-1ED7-4623-B7B5-2E3CBCAE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52C770FA-D550-4205-AE61-DB0E4A43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6788E45-0466-453B-AA6F-5C570210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17F9BE-CADA-4E8B-9DEE-4FE7CBD9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reviewer starts by pasting a warning and checking the extracted scenario brief.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236FD4-B882-43FC-BB81-EEDBA29C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E07263-DF30-40BC-B273-3E847037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4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97980d2844434a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2E3943-257B-44FC-AF79-736D4C8D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0023297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ABA187-2379-40F6-946E-693D2A69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D8B1A97-2548-40BE-AE1E-52F72F41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3DBC81C4-7DC3-471B-9EEC-94BBDB7F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AA5B5-2077-4EA3-8221-D9B124F1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evaluation tab compares SynthAML’s guided data against the simple baseline.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D3BE9B-D57B-4855-B6CA-6B4BDAE6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894815-BC12-4040-8F71-DF31AC9A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5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6e5e069c1c4d93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4813EE-57D8-4BCB-B615-F2997058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753283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7B0772-3F6E-446A-ADDC-1076C699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FE4F74C-87D2-4CD5-8BB9-DE02F0F4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BF7A3F4-C52B-4FA3-9D23-177F6EEF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CLICKABLE BROWSER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B1388D-D582-46E3-AA5D-B4E87FE6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Open the static web demo from the slide, then show intake, data, evaluation, and export.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9E233A-EF4A-4924-B4F2-0ACE1AED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49AB88-3EDA-4FDA-B626-F43EB437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6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6c6f24e4904d67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DEDEFC-E52A-45F0-A2BB-D7528E6A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C469D2-4D96-4EB1-A575-7ED11B106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19750"/>
            <a:ext cx="533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248916-7792-455B-AD93-4B504DA5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705475"/>
            <a:ext cx="4533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CLICK HERE FOR BROWSER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64085-6A4A-449A-ADB5-2397E441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6115050"/>
            <a:ext cx="777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0E7C66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https://htmlpreview.github.io/?https://github.com/yq688m3JT/genAI_final/blob/main/docs/demo.html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11568523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2026-05-11T12:45:42.2900000Z</dcterms:created>
  <dcterms:modified xsi:type="dcterms:W3CDTF">2026-05-11T12:45:42.2900000Z</dcterms:modified>
</coreProperties>
</file>