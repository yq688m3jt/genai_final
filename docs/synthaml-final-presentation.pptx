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9cab1435a54ea8" /><Relationship Type="http://schemas.openxmlformats.org/officeDocument/2006/relationships/extended-properties" Target="/docProps/app.xml" Id="Rece3e01079b04be5" /><Relationship Type="http://schemas.openxmlformats.org/officeDocument/2006/relationships/officeDocument" Target="/ppt/presentation.xml" Id="R84a8c769c6b5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5a5bffb660409a"/>
  </p:sldMasterIdLst>
  <p:notesMasterIdLst>
    <p:notesMasterId xmlns:r="http://schemas.openxmlformats.org/officeDocument/2006/relationships" r:id="Ra22c9a7c37104b86"/>
  </p:notesMasterIdLst>
  <p:sldIdLst>
    <p:sldId xmlns:r="http://schemas.openxmlformats.org/officeDocument/2006/relationships" id="256" r:id="R0acf43b7cd364132"/>
    <p:sldId xmlns:r="http://schemas.openxmlformats.org/officeDocument/2006/relationships" id="257" r:id="R7e78d1395ca6439c"/>
    <p:sldId xmlns:r="http://schemas.openxmlformats.org/officeDocument/2006/relationships" id="258" r:id="Radaeae9a6c284316"/>
    <p:sldId xmlns:r="http://schemas.openxmlformats.org/officeDocument/2006/relationships" id="259" r:id="Ra11ed55bc22e40b0"/>
    <p:sldId xmlns:r="http://schemas.openxmlformats.org/officeDocument/2006/relationships" id="260" r:id="Rb112e70ca3864fa6"/>
    <p:sldId xmlns:r="http://schemas.openxmlformats.org/officeDocument/2006/relationships" id="261" r:id="R58db244b75164c69"/>
    <p:sldId xmlns:r="http://schemas.openxmlformats.org/officeDocument/2006/relationships" id="262" r:id="R1ce8b8d226a149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a5bffb660409a" /><Relationship Type="http://schemas.openxmlformats.org/officeDocument/2006/relationships/theme" Target="/ppt/theme/theme1.xml" Id="R3a756825c485418a" /><Relationship Type="http://schemas.openxmlformats.org/officeDocument/2006/relationships/notesMaster" Target="/ppt/notesMasters/notesMaster1.xml" Id="Ra22c9a7c37104b86" /><Relationship Type="http://schemas.openxmlformats.org/officeDocument/2006/relationships/presProps" Target="/ppt/presProps.xml" Id="Re0840cf0365b4369" /><Relationship Type="http://schemas.openxmlformats.org/officeDocument/2006/relationships/viewProps" Target="/ppt/viewProps.xml" Id="R9d606de1665a4702" /><Relationship Type="http://schemas.openxmlformats.org/officeDocument/2006/relationships/tableStyles" Target="/ppt/tableStyles.xml" Id="R0b569627d22c4ee2" /><Relationship Type="http://schemas.openxmlformats.org/officeDocument/2006/relationships/slide" Target="/ppt/slides/slide1.xml" Id="R0acf43b7cd364132" /><Relationship Type="http://schemas.openxmlformats.org/officeDocument/2006/relationships/slide" Target="/ppt/slides/slide2.xml" Id="R7e78d1395ca6439c" /><Relationship Type="http://schemas.openxmlformats.org/officeDocument/2006/relationships/slide" Target="/ppt/slides/slide3.xml" Id="Radaeae9a6c284316" /><Relationship Type="http://schemas.openxmlformats.org/officeDocument/2006/relationships/slide" Target="/ppt/slides/slide4.xml" Id="Ra11ed55bc22e40b0" /><Relationship Type="http://schemas.openxmlformats.org/officeDocument/2006/relationships/slide" Target="/ppt/slides/slide5.xml" Id="Rb112e70ca3864fa6" /><Relationship Type="http://schemas.openxmlformats.org/officeDocument/2006/relationships/slide" Target="/ppt/slides/slide6.xml" Id="R58db244b75164c69" /><Relationship Type="http://schemas.openxmlformats.org/officeDocument/2006/relationships/slide" Target="/ppt/slides/slide7.xml" Id="R1ce8b8d226a149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d411f83e11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dd5b55f5d4597" /><Relationship Type="http://schemas.openxmlformats.org/officeDocument/2006/relationships/notesMaster" Target="/ppt/notesMasters/notesMaster1.xml" Id="R326a2744b9e54a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97fcd8ced40dd" /><Relationship Type="http://schemas.openxmlformats.org/officeDocument/2006/relationships/notesMaster" Target="/ppt/notesMasters/notesMaster1.xml" Id="R371b5f04529345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b2f651af7e4cb7" /><Relationship Type="http://schemas.openxmlformats.org/officeDocument/2006/relationships/notesMaster" Target="/ppt/notesMasters/notesMaster1.xml" Id="R27222e4b2184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3c6c1bdce4e64" /><Relationship Type="http://schemas.openxmlformats.org/officeDocument/2006/relationships/notesMaster" Target="/ppt/notesMasters/notesMaster1.xml" Id="R91922bca5e1d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e9d5755ecc4417" /><Relationship Type="http://schemas.openxmlformats.org/officeDocument/2006/relationships/notesMaster" Target="/ppt/notesMasters/notesMaster1.xml" Id="R7719c6a46242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1971d460ba4dc5" /><Relationship Type="http://schemas.openxmlformats.org/officeDocument/2006/relationships/notesMaster" Target="/ppt/notesMasters/notesMaster1.xml" Id="R5cd4c5ee457540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4317fe22804631" /><Relationship Type="http://schemas.openxmlformats.org/officeDocument/2006/relationships/notesMaster" Target="/ppt/notesMasters/notesMaster1.xml" Id="R33fb68b59f43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b9332b81247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e9d5e00edd4e8d" /><Relationship Type="http://schemas.openxmlformats.org/officeDocument/2006/relationships/slideLayout" Target="/ppt/slideLayouts/slideLayout2.xml" Id="R7d51d66f04a5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1d66f04a5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12e6c91ba4220" /><Relationship Type="http://schemas.openxmlformats.org/officeDocument/2006/relationships/notesSlide" Target="/ppt/notesSlides/notesSlide1.xml" Id="Re54474c97fde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74a4cfae74d0e" /><Relationship Type="http://schemas.openxmlformats.org/officeDocument/2006/relationships/notesSlide" Target="/ppt/notesSlides/notesSlide2.xml" Id="R1a0b6699797545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73c92332c4331" /><Relationship Type="http://schemas.openxmlformats.org/officeDocument/2006/relationships/notesSlide" Target="/ppt/notesSlides/notesSlide3.xml" Id="Rdeb874170f33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e569c9f5b4be7" /><Relationship Type="http://schemas.openxmlformats.org/officeDocument/2006/relationships/notesSlide" Target="/ppt/notesSlides/notesSlide4.xml" Id="Rce2eb5b59221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2352e3a84438a" /><Relationship Type="http://schemas.openxmlformats.org/officeDocument/2006/relationships/image" Target="/ppt/media/image.png" Id="Rb5fd72488dad44d8" /><Relationship Type="http://schemas.openxmlformats.org/officeDocument/2006/relationships/notesSlide" Target="/ppt/notesSlides/notesSlide5.xml" Id="Rbeac2b2d2b9944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3d566ce4e4de1" /><Relationship Type="http://schemas.openxmlformats.org/officeDocument/2006/relationships/image" Target="/ppt/media/image2.png" Id="R2f4c99d407004046" /><Relationship Type="http://schemas.openxmlformats.org/officeDocument/2006/relationships/notesSlide" Target="/ppt/notesSlides/notesSlide6.xml" Id="R18357e375c75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4e2bed64e497b" /><Relationship Type="http://schemas.openxmlformats.org/officeDocument/2006/relationships/image" Target="/ppt/media/image3.png" Id="R77671aa4fe8e4b11" /><Relationship Type="http://schemas.openxmlformats.org/officeDocument/2006/relationships/notesSlide" Target="/ppt/notesSlides/notesSlide7.xml" Id="R96823fce9cf14a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14991-7200-42F1-943D-ABE227C2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78515-747A-4562-9EDF-048C9EC6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6A218-B160-4EEB-B5C2-D9BCFB89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E7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E7DD"/>
                </a:solidFill>
                <a:latin typeface="Aptos"/>
                <a:ea typeface="Aptos"/>
                <a:cs typeface="Aptos"/>
              </a:rPr>
              <a:t>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3FD3-9F61-465E-825B-19012A56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SynthAML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4000B-FE01-4852-8CB6-E1181E8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4E7D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4E7DD"/>
                </a:solidFill>
                <a:latin typeface="Aptos"/>
                <a:ea typeface="Aptos"/>
                <a:cs typeface="Aptos"/>
              </a:rPr>
              <a:t>A commercial-style GenAI workbench for turning AML typology warnings into synthetic transaction test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CD11E-5CD4-4575-B7BB-F14601D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D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604CB-3D14-45D0-9936-6CB67EA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C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C2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CAA0B-2BEC-4F63-8F99-C09AFA9C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AML model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7AFE-12DE-4524-896A-A06EFD7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C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C27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DFEDF-FCFE-4B06-B0EA-E299541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Typology intake to QA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1FEC6-6230-4320-9DF6-B8DF61AD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C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C27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4D4D-8C5C-4DD1-9624-791043C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Guided data vs threshold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627A4-9F14-4F34-B802-C966457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2573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D1352-CBB6-46D7-9708-870D83DA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D32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11D32"/>
                </a:solidFill>
                <a:latin typeface="Aptos Display"/>
                <a:ea typeface="Aptos Display"/>
                <a:cs typeface="Aptos Display"/>
              </a:rPr>
              <a:t>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BE77E-1A9A-4260-A252-E225CFF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0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05B"/>
                </a:solidFill>
                <a:latin typeface="Aptos"/>
                <a:ea typeface="Aptos"/>
                <a:cs typeface="Aptos"/>
              </a:rPr>
              <a:t>Defensive synthetic data only</a:t>
            </a:r>
          </a:p>
          <a:p xmlns:a="http://schemas.openxmlformats.org/drawingml/2006/main">
            <a:pPr algn="ctr">
              <a:defRPr sz="1125" b="0">
                <a:solidFill>
                  <a:srgbClr val="3D40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05B"/>
                </a:solidFill>
                <a:latin typeface="Aptos"/>
                <a:ea typeface="Aptos"/>
                <a:cs typeface="Aptos"/>
              </a:rPr>
              <a:t>Human review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7CA8F-DCA3-4CCD-90F1-6D7B1F28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4E7D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4E7DD"/>
                </a:solidFill>
                <a:latin typeface="Aptos"/>
                <a:ea typeface="Aptos"/>
                <a:cs typeface="Aptos"/>
              </a:rPr>
              <a:t>2-minute presentation + 1-minute demo</a:t>
            </a:r>
          </a:p>
        </p:txBody>
      </p:sp>
    </p:spTree>
    <p:extLst>
      <p:ext uri="{BB962C8B-B14F-4D97-AF65-F5344CB8AC3E}">
        <p14:creationId xmlns:p14="http://schemas.microsoft.com/office/powerpoint/2010/main" val="1423851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8B4A1-DC9E-4DCE-B551-FD19D9B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9A5D22-2BFD-4EC0-A31B-CCEBD5D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4F0864-5326-45DC-BCF6-06B99A0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F248D-D368-49BE-9FEB-19394386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57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New AML typologies create a data cold start before models can learn the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9575-EBBA-4751-BA4E-0494694E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0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05B"/>
                </a:solidFill>
                <a:latin typeface="Aptos"/>
                <a:ea typeface="Aptos"/>
                <a:cs typeface="Aptos"/>
              </a:rPr>
              <a:t>Target user: AML algorithm engineers and compliance data scientists at cross-border payment firms.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40B14-13FE-4CBD-B706-3109881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7FA45-45EE-4E66-B8D7-91B3FA5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4244F-B766-4861-B3EB-593A5C72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Regulator warning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1387A-13FA-404B-BCA5-075E2A1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A prose report describes a new shell-company trade pattern.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BAA51-FEA3-472A-B34E-55698362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D97D0-058D-4545-89F9-98A19ABE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19575"/>
            <a:ext cx="1143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8A199-1693-4A5D-AA22-1EA8EC1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FC42E-8BA5-4E6E-9904-3BD437D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F314F-E5B8-42B8-BF33-9D66B70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71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 labels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1CAB5-15D6-4844-91AB-930C2A9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The bank has no historical examples for the typology.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582C1-3190-40BF-B55D-9ADAEC3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718F2-1D3A-4D59-8037-1E5B0E6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19575"/>
            <a:ext cx="1143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A1220-3650-45D7-BA87-56C4EE03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26249-513A-451C-BCA7-E892DAD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EC71B-3D1C-4B0C-9388-0ECA235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Model blind spot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87395-D9ED-4053-80D7-815CAC44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Threshold rules miss behavior spread across a transaction chain.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BF42E-1DF5-4B06-BDAF-9B0E57BA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47750"/>
            <a:ext cx="1790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0D388-4D04-46B9-8674-C4453B13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144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2AC8B-8F76-4EDF-8986-5512B85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57350"/>
            <a:ext cx="137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days,</a:t>
            </a:r>
          </a:p>
          <a:p xmlns:a="http://schemas.openxmlformats.org/drawingml/2006/main">
            <a:pPr algn="ctr">
              <a:defRPr sz="23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not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967DA-14DE-4D57-AE08-E74671C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627AA-A296-4DD6-8EE6-F42D5F2A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SynthAML final project | 1</a:t>
            </a:r>
          </a:p>
        </p:txBody>
      </p:sp>
    </p:spTree>
    <p:extLst>
      <p:ext uri="{BB962C8B-B14F-4D97-AF65-F5344CB8AC3E}">
        <p14:creationId xmlns:p14="http://schemas.microsoft.com/office/powerpoint/2010/main" val="18151239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D3854-15B0-4DD3-BCBB-AB81A1C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5F85D8-0BC2-47C2-AF11-2933986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40ACE2-453E-482D-BD85-E3704403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BC1C5-6952-4C3F-B75F-3A034955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SynthAML converts a warning into structured constraints, then into labeled synthetic chains.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6F513-C31F-44FC-ADFA-ADF34BD4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C5881-298F-422B-94C0-34C31863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SynthAML final project |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6305C-910A-4424-BF34-A8D520B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5F800-E555-47CE-9A51-264932ED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35A6D-4099-4C0D-B289-07CD6419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Paste warning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78845-4956-4315-AEBA-C486CAD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Regulatory prose or short case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9B59C-CFC5-48A8-8E7C-12ABBD0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151FE-FBBD-487B-B1A4-131D7CE0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76650"/>
            <a:ext cx="1333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64DDE-CE47-4CB6-928B-B182372E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99387-B0C1-4DDF-A7BA-EEF1C720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8308A-D7B1-49BC-BA83-A67965C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Extract typology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B8892-A218-43BC-B0C8-7E445F06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386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Industry, regions, amount range, timing, narratives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C3965-8C94-43CB-80BB-AC8905C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CECDC-420E-4085-B2C6-8AAE96D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1333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FA9F3-ED27-4FEA-A9FB-B1BC1976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56C91-0C56-433A-BFEA-86A2357C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89C2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2E68A-5F23-4941-BB89-3C49A8F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Generate chains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860D4-640D-40CE-B331-283DB67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Funding transfer plus rapid split payments with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8E6BF-67B2-4871-9ADD-0F18BB90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6E884-3950-4772-A3C5-2A0C23C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76650"/>
            <a:ext cx="1333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F6576-E984-4C1C-9739-0AAA4394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EC6D1-2AE6-48BF-9AB0-7858D77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453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4453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B6688-6C1C-4F95-BF60-A5EB0EB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Export 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28494-C50B-4242-82DE-CFD8E24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Conservation checks, baseline comparison, 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E9430-4787-438E-889A-C77E35C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353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D40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05B"/>
                </a:solidFill>
                <a:latin typeface="Aptos"/>
                <a:ea typeface="Aptos"/>
                <a:cs typeface="Aptos"/>
              </a:rPr>
              <a:t>Design choice: the GenAI step is the translation from unstructured compliance prose into structured generation constraints. A deterministic fallback keeps grading reproducible without an API key.</a:t>
            </a:r>
          </a:p>
        </p:txBody>
      </p:sp>
    </p:spTree>
    <p:extLst>
      <p:ext uri="{BB962C8B-B14F-4D97-AF65-F5344CB8AC3E}">
        <p14:creationId xmlns:p14="http://schemas.microsoft.com/office/powerpoint/2010/main" val="243443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16523-125A-4998-8406-6EA816CE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EBB054-FF9A-4FD7-B240-F5D6D325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7223F9-D0EF-4EB8-A654-EA251007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C29BF-79C2-4681-8AF2-D19BE08B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Guided chain-style training data beat the threshold baseline on hidden typology recall.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80162-184A-4BEC-8786-130D241D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C66E2-D511-409B-86D8-F1F108D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Source: examples/sample_outputs/evaluation_summary.json |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EBE2C-618E-4320-AA8C-E9A60B4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6A61"/>
                </a:solidFill>
                <a:latin typeface="Aptos"/>
                <a:ea typeface="Aptos"/>
                <a:cs typeface="Aptos"/>
              </a:rPr>
              <a:t>F1 score on hidden guided test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858EA-8946-4179-9280-322484D9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SynthAML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EBB59-7D50-4E37-AF43-9A205FC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68E6C-CCFE-416F-9237-5896DED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60A14-A307-42C5-BF1A-62F7094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765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CA719-E11F-431E-800E-6E28DCF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661A1-24C0-4E9F-BF08-BC8F5B8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E4B03-AD83-4426-A1BD-3A8E053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108013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EDA4B-2225-4F7F-AEC5-6020638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147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45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44536"/>
                </a:solidFill>
                <a:latin typeface="Aptos"/>
                <a:ea typeface="Aptos"/>
                <a:cs typeface="Aptos"/>
              </a:rPr>
              <a:t>0.189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08083-E1C3-4348-A65A-4F007F6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85B7F-CE6E-4418-9B73-022B712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What counted as good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965E1-39DD-4199-8A15-E74B162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8899D-20E0-4619-87D4-B93940D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Chains preserve fund conservation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843B7-75FD-425A-8AB5-A617CA69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95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EAD9D-6B9F-4B0A-8C67-CD6214A8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00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Suspicious activity is not just a large amount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698E3-2146-4ED7-AFE3-FEE527C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6EF10-5D7F-4B3A-AB72-73547845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D4A43"/>
                </a:solidFill>
                <a:latin typeface="Aptos"/>
                <a:ea typeface="Aptos"/>
                <a:cs typeface="Aptos"/>
              </a:rPr>
              <a:t>Human reviewer can inspect constraints and records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571AD-0CA3-4DCD-AFEB-2FD2336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3B11F-06AD-4244-99A4-F0D500E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193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092F8-1328-499A-98A2-6857B947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1.000</a:t>
            </a:r>
          </a:p>
          <a:p xmlns:a="http://schemas.openxmlformats.org/drawingml/2006/main">
            <a:pPr algn="ctr">
              <a:def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vs 0.110</a:t>
            </a:r>
          </a:p>
        </p:txBody>
      </p:sp>
    </p:spTree>
    <p:extLst>
      <p:ext uri="{BB962C8B-B14F-4D97-AF65-F5344CB8AC3E}">
        <p14:creationId xmlns:p14="http://schemas.microsoft.com/office/powerpoint/2010/main" val="222101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26B6E-A8F6-45CF-ADD0-DEBBD16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5B358F-AD87-4517-A790-3D14473D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FE27EC-4E10-4584-B7BA-C3B62C3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UI WALKTHROUGH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DABD8-3A3E-4A95-AA90-A0D064D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reviewer starts by pasting a warning and checking the extracted scenario brief.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671A-7D34-40DC-81C5-4177B69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2DDBD-A165-4A24-BCA1-32412E2F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Artifact walkthrough | 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d72488dad44d8"/>
          <a:stretch xmlns:a="http://schemas.openxmlformats.org/drawingml/2006/main"/>
        </p:blipFill>
        <p:spPr>
          <a:xfrm xmlns:a="http://schemas.openxmlformats.org/drawingml/2006/main">
            <a:off x="2201333" y="1714500"/>
            <a:ext cx="7789333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1424-C58E-4C7A-8458-72BDFBC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714500"/>
            <a:ext cx="77914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7115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C25145-C1DA-4F9E-9FA9-0AA1D540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15FD38-B1A5-4AEF-8DF5-C794F87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746954-358C-43E9-9EAC-71BE6C51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UI WALKTHROUGH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9CEB0-B6A9-4346-9CC4-FB10357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evaluation tab compares SynthAML’s guided data against the simple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01ED-82FB-4A2D-AE04-759F88CB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5C591-BE96-43E7-A2C8-A2AADB0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Artifact walkthrough | 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c99d407004046"/>
          <a:stretch xmlns:a="http://schemas.openxmlformats.org/drawingml/2006/main"/>
        </p:blipFill>
        <p:spPr>
          <a:xfrm xmlns:a="http://schemas.openxmlformats.org/drawingml/2006/main">
            <a:off x="2201333" y="1714500"/>
            <a:ext cx="7789333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34F63-AD7C-4BC2-88E4-275CF27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714500"/>
            <a:ext cx="77914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27986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AC072-E739-4112-A856-F14C666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7F29EA-02BE-45F2-ABE0-1A0DA5D2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C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DBEB07-32C1-4F90-A806-A621603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UI WALKTHROUGH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7FDB9-1F28-4E02-9352-940FAC9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export package gives the user guided data, baseline data, and evaluation JSON.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40310-1ECC-4114-8380-FD28DC7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7A216-EC69-45D8-B66E-C082134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A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6A61"/>
                </a:solidFill>
                <a:latin typeface="Aptos"/>
                <a:ea typeface="Aptos"/>
                <a:cs typeface="Aptos"/>
              </a:rPr>
              <a:t>Artifact walkthrough | 6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71aa4fe8e4b11"/>
          <a:stretch xmlns:a="http://schemas.openxmlformats.org/drawingml/2006/main"/>
        </p:blipFill>
        <p:spPr>
          <a:xfrm xmlns:a="http://schemas.openxmlformats.org/drawingml/2006/main">
            <a:off x="2201333" y="1714500"/>
            <a:ext cx="7789333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972D0-8C31-4FC4-B93D-0C3B696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714500"/>
            <a:ext cx="77914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A8A05-CFF5-4682-9321-A2520C2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578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CB6F7-1198-4367-80E1-4DB47F3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24525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No live app is required during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68524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2026-05-11T09:37:54.9990000Z</dcterms:created>
  <dcterms:modified xsi:type="dcterms:W3CDTF">2026-05-11T09:37:55.0000000Z</dcterms:modified>
</coreProperties>
</file>