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4f02f5bcc14c27" /><Relationship Type="http://schemas.openxmlformats.org/officeDocument/2006/relationships/extended-properties" Target="/docProps/app.xml" Id="Rbaf9378d850f418a" /><Relationship Type="http://schemas.openxmlformats.org/officeDocument/2006/relationships/officeDocument" Target="/ppt/presentation.xml" Id="Rebe9dd47c01a40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2fce655f4f4826"/>
  </p:sldMasterIdLst>
  <p:notesMasterIdLst>
    <p:notesMasterId xmlns:r="http://schemas.openxmlformats.org/officeDocument/2006/relationships" r:id="R305f9166c38f47bb"/>
  </p:notesMasterIdLst>
  <p:sldIdLst>
    <p:sldId xmlns:r="http://schemas.openxmlformats.org/officeDocument/2006/relationships" id="256" r:id="R89e760b3261941b7"/>
    <p:sldId xmlns:r="http://schemas.openxmlformats.org/officeDocument/2006/relationships" id="257" r:id="Re2ce619c0fb14d01"/>
    <p:sldId xmlns:r="http://schemas.openxmlformats.org/officeDocument/2006/relationships" id="258" r:id="R802e3841f913462a"/>
    <p:sldId xmlns:r="http://schemas.openxmlformats.org/officeDocument/2006/relationships" id="259" r:id="R98d1f3b385784555"/>
    <p:sldId xmlns:r="http://schemas.openxmlformats.org/officeDocument/2006/relationships" id="260" r:id="Rd40b4e84048f41ba"/>
    <p:sldId xmlns:r="http://schemas.openxmlformats.org/officeDocument/2006/relationships" id="261" r:id="Rbf01955847564b69"/>
    <p:sldId xmlns:r="http://schemas.openxmlformats.org/officeDocument/2006/relationships" id="262" r:id="Re667ac80bce74e3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fce655f4f4826" /><Relationship Type="http://schemas.openxmlformats.org/officeDocument/2006/relationships/theme" Target="/ppt/theme/theme1.xml" Id="R3978b5ae4ac746e2" /><Relationship Type="http://schemas.openxmlformats.org/officeDocument/2006/relationships/notesMaster" Target="/ppt/notesMasters/notesMaster1.xml" Id="R305f9166c38f47bb" /><Relationship Type="http://schemas.openxmlformats.org/officeDocument/2006/relationships/presProps" Target="/ppt/presProps.xml" Id="R1ed55b765c8e4bd1" /><Relationship Type="http://schemas.openxmlformats.org/officeDocument/2006/relationships/viewProps" Target="/ppt/viewProps.xml" Id="R7f4d060e1ba048b4" /><Relationship Type="http://schemas.openxmlformats.org/officeDocument/2006/relationships/tableStyles" Target="/ppt/tableStyles.xml" Id="R66593b16730d4ba5" /><Relationship Type="http://schemas.openxmlformats.org/officeDocument/2006/relationships/slide" Target="/ppt/slides/slide1.xml" Id="R89e760b3261941b7" /><Relationship Type="http://schemas.openxmlformats.org/officeDocument/2006/relationships/slide" Target="/ppt/slides/slide2.xml" Id="Re2ce619c0fb14d01" /><Relationship Type="http://schemas.openxmlformats.org/officeDocument/2006/relationships/slide" Target="/ppt/slides/slide3.xml" Id="R802e3841f913462a" /><Relationship Type="http://schemas.openxmlformats.org/officeDocument/2006/relationships/slide" Target="/ppt/slides/slide4.xml" Id="R98d1f3b385784555" /><Relationship Type="http://schemas.openxmlformats.org/officeDocument/2006/relationships/slide" Target="/ppt/slides/slide5.xml" Id="Rd40b4e84048f41ba" /><Relationship Type="http://schemas.openxmlformats.org/officeDocument/2006/relationships/slide" Target="/ppt/slides/slide6.xml" Id="Rbf01955847564b69" /><Relationship Type="http://schemas.openxmlformats.org/officeDocument/2006/relationships/slide" Target="/ppt/slides/slide7.xml" Id="Re667ac80bce74e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466535582af48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b8d294326f4fd4" /><Relationship Type="http://schemas.openxmlformats.org/officeDocument/2006/relationships/notesMaster" Target="/ppt/notesMasters/notesMaster1.xml" Id="R21cfee038e4642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c1b9d9a3fe4e4d" /><Relationship Type="http://schemas.openxmlformats.org/officeDocument/2006/relationships/notesMaster" Target="/ppt/notesMasters/notesMaster1.xml" Id="R663ad7f6da4d48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ccfa5e66ea4bf4" /><Relationship Type="http://schemas.openxmlformats.org/officeDocument/2006/relationships/notesMaster" Target="/ppt/notesMasters/notesMaster1.xml" Id="Rc7243d0d20e34a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9e0ffef22741ab" /><Relationship Type="http://schemas.openxmlformats.org/officeDocument/2006/relationships/notesMaster" Target="/ppt/notesMasters/notesMaster1.xml" Id="R33aef4dad35e49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28959b4a3b4179" /><Relationship Type="http://schemas.openxmlformats.org/officeDocument/2006/relationships/notesMaster" Target="/ppt/notesMasters/notesMaster1.xml" Id="R6fb424becaa643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f2ee603f0742df" /><Relationship Type="http://schemas.openxmlformats.org/officeDocument/2006/relationships/notesMaster" Target="/ppt/notesMasters/notesMaster1.xml" Id="Re8f97c77c8394e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e2f09a6c854843" /><Relationship Type="http://schemas.openxmlformats.org/officeDocument/2006/relationships/notesMaster" Target="/ppt/notesMasters/notesMaster1.xml" Id="R06f92a3897674d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1c0706dd0d492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6a2a037ed0344b0" /><Relationship Type="http://schemas.openxmlformats.org/officeDocument/2006/relationships/slideLayout" Target="/ppt/slideLayouts/slideLayout2.xml" Id="R3c71c3e4e21b45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71c3e4e21b45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37359e88c54f2e" /><Relationship Type="http://schemas.openxmlformats.org/officeDocument/2006/relationships/notesSlide" Target="/ppt/notesSlides/notesSlide1.xml" Id="R3ff69f087f9840b0" /><Relationship Type="http://schemas.openxmlformats.org/officeDocument/2006/relationships/hyperlink" Target="https://raw.githack.com/yq688m3JT/genAI_final/ae9c84ea574e9f8c48c84f1863ce82f77ea4f24e/docs/demo.html" TargetMode="External" Id="rIdSynthAMLDem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0f36edb4d040d7" /><Relationship Type="http://schemas.openxmlformats.org/officeDocument/2006/relationships/notesSlide" Target="/ppt/notesSlides/notesSlide2.xml" Id="Rea2c99b3144948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7c6830167a4fef" /><Relationship Type="http://schemas.openxmlformats.org/officeDocument/2006/relationships/notesSlide" Target="/ppt/notesSlides/notesSlide3.xml" Id="Ra9d93cd2cb0f4e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d0a691a7494f7e" /><Relationship Type="http://schemas.openxmlformats.org/officeDocument/2006/relationships/notesSlide" Target="/ppt/notesSlides/notesSlide4.xml" Id="Radfeddf8c6a64b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5fefc339d64d0e" /><Relationship Type="http://schemas.openxmlformats.org/officeDocument/2006/relationships/notesSlide" Target="/ppt/notesSlides/notesSlide5.xml" Id="Rf657c06b629046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e69c4fb442434a" /><Relationship Type="http://schemas.openxmlformats.org/officeDocument/2006/relationships/notesSlide" Target="/ppt/notesSlides/notesSlide6.xml" Id="Rb34f1596656b410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cb9a0fa9914030" /><Relationship Type="http://schemas.openxmlformats.org/officeDocument/2006/relationships/notesSlide" Target="/ppt/notesSlides/notesSlide7.xml" Id="R7e35e4fdaa744a2a" /><Relationship Type="http://schemas.openxmlformats.org/officeDocument/2006/relationships/hyperlink" Target="https://raw.githack.com/yq688m3JT/genAI_final/ae9c84ea574e9f8c48c84f1863ce82f77ea4f24e/docs/demo.html" TargetMode="External" Id="rIdSynthAMLDem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CAB9FB-387D-47DF-95CF-2EF8D93D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7CC68-88BE-4A45-9AF0-09FFA886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624444-27DC-4FCE-A755-174F11EC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9FE1D-C1A6-4614-801A-7C2C6C58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67B0EE-0DD1-41FB-A91B-2453B98C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focused GenAI workflow for the AML data cold-start: from typology warning to reviewed model QA package.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957CFE-9626-4E85-A2BC-723FFA1E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6629B-CE6E-41B5-ABC0-2DCBCE5B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C43EF4-4084-480D-852D-85196DF2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EE1238-4585-4AC2-825D-5EEC3759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09DA0-A7B1-4AF3-82B9-046AD0F5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Warning to QA package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E84EB7-0711-4588-9454-0210484C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F98802-3882-42E0-8826-6073603E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85C393-5C8B-4A98-AA4F-44E55BF8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DAE7FF-ABA8-4039-9EDE-86DC90C9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50BCBC-0DE0-40C3-BA33-EA904F83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E6BAE1-5F2E-41BF-A411-A3EC56A8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browser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23D9EB-B24B-4321-B6D6-D890868D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89C27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https://raw.githack.com/yq688m3JT/genAI_final/ae9c84ea574e9f8c48c84f1863ce82f77ea4f24e/docs/demo.html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144231925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A3739A-ADFE-4021-9EA0-1F35BC43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212126D-5C70-45D8-BC37-D556259F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B291D75-651D-49C1-81A2-C04F3F2C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981B8-F286-4957-8172-0AA47014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AML teams need to test new laundering patterns before real labeled cases exist.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F87F2-DE5F-4515-B1FD-10CA5A93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responsible for model QA at banks or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2A430-BEED-49EC-9A67-F44A12A9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16D5A6-997B-4135-B05F-DCD9B1E0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33AF46-9205-496C-B1D8-85D6BE57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New warning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FD8B2-C4BF-4160-99F6-9866C5A8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 regulator describes a shell-company trade pattern in prose.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E96F76-380C-46B5-87CE-C5B62708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173DF-8191-4261-A1C2-D8B5A2F5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1AFD4-BF4B-45BB-8033-AE8C7B39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BECE90-0660-4EE5-BCDE-3E2F3E52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203AAA-1FEA-4327-8D2B-44A642AD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labels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EE2614-7874-4C12-8283-351D0C83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model team cannot train or test on cases it has not seen.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A4D1D5-B0A3-4086-ADD3-67FB2C22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A095E8-09A8-4BB7-AA3C-F2AAE9FA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9E0F82-BABA-4E47-809B-4AF46132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7089A-B0F4-47AB-B7EF-FE060604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72A77A-DCD0-4CE5-9615-1869457B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098091-0065-41D9-AE38-3707E9B0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Simple amount rules miss behavior distributed across a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B20DC0-2520-4FF7-BFE8-C082F4A2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942341-7038-44F9-981F-3656B8D9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4190EE-6DBE-405E-98F0-2B6881B9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reviewed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same day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EE42A3-E8B2-42DC-BB54-C5776276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9F47C6-5978-4EE9-A562-51915D4B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4526833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81F354-4ED8-411D-A63E-13F7CFF7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7138D3A-9BCC-4F4F-9AD1-58744BB2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855E705-17EB-445B-902B-95A441BF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APPLICATION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E0C9B-E2DD-44BC-BC4E-7335D9ED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supports the full handoff from compliance prose to model QA artifacts.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00884-D585-4CFF-B650-ADB5E926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05046F-D003-404D-9217-1FDD0053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8BE2D-8056-41E8-889C-3053FE0B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00AB5E-AE4C-40A4-BE6D-F5103BDE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A27B1-0211-4C93-980A-6C5095AE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Ingest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8791C8-FFF9-4ADE-98AF-7B5C1024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Import alert text from a feed, case queue, memo, or knowledge base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D50E75-0C79-4B42-8EB6-883106C2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EE2556-BCFB-42B9-96AE-AEDA8E98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BD0452-3BFF-4712-A058-10DB449D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A4F9B-821D-40A2-861E-EC55A6AA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1511B-AB7F-483C-98A6-BE3DF600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48A222-B977-4B7F-A0A1-6CE9B5F3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Approve extracted regions, timing, narratives, and methods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3FE2F2-F91B-4E52-BB91-10CF9CDC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639F42-EB4F-41E2-B182-16955B3C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63C8C5-555C-41B1-AFFD-4A5E6B6D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4A1ED9-5D05-456C-9FA5-764EA333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27D020-E942-4EF0-A41C-38AD6ECC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9EC9C9-4D25-4A35-90D0-566BCD47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Create normal traffic plus suspicious multi-step chains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A5F604-E3DC-453E-8D48-D60B190E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6E6F1D-AAA6-45EB-A653-FE402BA9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88FAE9-D7A0-404E-8D4C-D1151ABD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C9B0D2-2538-45A2-87E0-31DA6B6D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317E09-D4F5-4D3E-A86D-E6B86C15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Evaluate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EA6621-21A4-4A57-9171-96E437B8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Compare guided data against a simpler baseline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6A6BBB-3FA2-4659-9036-B1A96AB8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GenAI is used only where it helps most: translating unstructured compliance language into structured, reviewable generation constraints. The reviewer stays in control before export.</a:t>
            </a:r>
          </a:p>
        </p:txBody>
      </p:sp>
    </p:spTree>
    <p:extLst>
      <p:ext uri="{BB962C8B-B14F-4D97-AF65-F5344CB8AC3E}">
        <p14:creationId xmlns:p14="http://schemas.microsoft.com/office/powerpoint/2010/main" val="93429579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BE1245-BACD-4A8D-973E-192D6B7E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E13CC13-8F09-4BD4-9EC2-3A1ADB3D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1A433B7-592C-4C73-BF26-0CC35585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740EB0-70D8-447D-98E3-FE1D44C4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baseline comparison asks whether GenAI adds value beyond a cheap rule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EB796B-8EBD-4045-A11C-1F949332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D73175-3C16-4290-8727-C15A2CCA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0E727C-726C-4A46-926D-C805E812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139AAB-3250-4FD2-A31B-D8C161A8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FE3C4D-B660-46DC-BBA7-7F605A7B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599FB-27F3-4923-B61C-B58BDA64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655B1E-5492-4E9E-8E93-669105E8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FCBFBC-ABE3-4FD9-9568-D62A2443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8A091E-C27D-4958-96FA-B781A913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8CF341-0C78-4C3E-874B-D06196C5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76009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6D4C13-05C7-4E25-BC0B-4B156239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08E6BD-827B-4F97-AA3F-2CC1B71B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46D8DF-4B27-481E-8D37-850A6564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D87533-D78B-4255-AC70-1C50E9F6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B03A06-2316-4DAC-B6D3-A89D6931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5D0077-6124-4508-8934-565AE641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6B758D-8E7D-4391-ADBA-114DB3CE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08245C-093B-43F5-BD69-7260E20B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3AB773-9955-4EDD-AC8D-700F83A2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constraints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48BA40-EDD9-4619-A399-869F7F05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439CE2-01F1-4E70-ABEF-8EFE7335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151B6F-1B48-4F2F-9EB3-696DE49F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0.074</a:t>
            </a:r>
          </a:p>
        </p:txBody>
      </p:sp>
    </p:spTree>
    <p:extLst>
      <p:ext uri="{BB962C8B-B14F-4D97-AF65-F5344CB8AC3E}">
        <p14:creationId xmlns:p14="http://schemas.microsoft.com/office/powerpoint/2010/main" val="123993645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BACB7B-F72A-491E-9166-6ED69A1F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482D665-5F47-42C4-9253-8BD5447C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C397154-36EC-488E-95A4-26CCB6C4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WHY THIS WORKFLOW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A377D-E548-4E06-A754-BE47564D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real bottleneck is not generating rows. It is turning vague typology language into testable model behavior.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B0CE36-DEDE-48C0-A7C9-DDB0C57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AB4931-3DE6-4BB5-9AB2-3E8E6497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35539-50E3-4706-AD51-E423B13F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A7DE2-151E-4D68-8407-2A07FEEE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0A6EF9-117D-45F6-A46B-535087C6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9431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Status quo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3ED889-7840-4FB2-8D15-CCF2C004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362200"/>
            <a:ext cx="800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An analyst reviews an incoming warning, writes ad hoc rules, and creates a small spreadsheet or prompt-only sample.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63B5D5-6097-477A-93A4-3E6F3B6C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B5E4E7-F264-486F-BBCA-F9387697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0DA801-591A-4466-9818-21C8DAA9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385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943314-E246-44BE-ACCD-DCFBEE95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57600"/>
            <a:ext cx="800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resulting data often overfits obvious signals like high amount and misses multi-step fund-flow behavior.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5C2903-AF10-41E8-9DFA-17617CBC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8EEDF1-C82F-40BB-B4CA-E8438E26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863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88904B-9874-49B0-BC9B-EFDAF93B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339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 shift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B63C4F-3A2A-48F8-A06B-593F8B385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53000"/>
            <a:ext cx="800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app makes the intermediate scenario explicit: regions, timing, split count, narratives, chain logic, and review gates.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99FF4-965F-4A46-98DA-8DBF36EC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66950"/>
            <a:ext cx="16764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B"/>
          </a:solidFill>
          <a:ln xmlns:a="http://schemas.openxmlformats.org/drawingml/2006/main" w="9525">
            <a:solidFill>
              <a:srgbClr val="D89C2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551B84-EA7F-4C7A-9142-5F78FD57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62250"/>
            <a:ext cx="1143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875B11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75B11"/>
                </a:solidFill>
                <a:latin typeface="Aptos Display"/>
                <a:ea typeface="Aptos Display"/>
                <a:cs typeface="Aptos Display"/>
              </a:rPr>
              <a:t>Human review stays central</a:t>
            </a:r>
          </a:p>
        </p:txBody>
      </p:sp>
    </p:spTree>
    <p:extLst>
      <p:ext uri="{BB962C8B-B14F-4D97-AF65-F5344CB8AC3E}">
        <p14:creationId xmlns:p14="http://schemas.microsoft.com/office/powerpoint/2010/main" val="76183159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BBFD17-9CC3-43F2-8B44-BA66202E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CCCFEBC-B49E-46C5-8654-CD0BB394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B04AB83-93E3-409D-A95A-7C28ACC0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WHAT THE APP DOES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C0573-209D-4B2A-8F07-232FDC4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application is a workbench for one narrow business workflow: typology intake to model QA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4FFD2E-3BF2-44D4-8D31-56ED11E1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FD4BB-EB46-4D86-A996-91FB0CE5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EDE8A4-4580-445C-AC04-A3315EFC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81D1E5-F019-4286-B0AD-8EFEF704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431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 Source 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56ADDC-593B-4BA6-AC1F-FA31BBFD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431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Import the regulatory alert or internal typology note and preserve source traceability.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CD1BF-5296-4654-91B4-B5A4B537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86386-182E-40F9-AAFF-DD283220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2. Scenario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F7B408-472C-4078-97BD-ED99C653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Let the analyst approve amounts, regions, split counts, timing windows, and narratives.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420028-BDA9-46BB-B304-E9343684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70F837-1548-4718-B97D-05312DA3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3. Generation 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7DE179-D970-4BD4-9512-EB352FC7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052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Create synthetic background traffic plus suspicious chains that conserve funds.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E47C55-4711-428E-AEB8-AF4FDC56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509EE9-48E9-4F4D-91DB-B0AF1C1A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4. Ledger analysis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56828B-E7C1-43BB-AD9A-DFBABCF5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Filter and inspect transaction rows, chain IDs, labels, and risk signals.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D9FA7B-748A-4817-972B-6C891FD1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FA62A9-D48E-4FBE-98B7-F344CF68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5. Evaluation + export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269A0B-8B44-49B3-8E97-9428AD60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673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Compare against the baseline and download the QA package.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344567-0FE2-416B-9839-BA2EC5FF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293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Commercial framing: this is not a generic chatbot. It is a structured operating surface for a repeatable compliance data workflow.</a:t>
            </a:r>
          </a:p>
        </p:txBody>
      </p:sp>
    </p:spTree>
    <p:extLst>
      <p:ext uri="{BB962C8B-B14F-4D97-AF65-F5344CB8AC3E}">
        <p14:creationId xmlns:p14="http://schemas.microsoft.com/office/powerpoint/2010/main" val="67540904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4EAACB-4475-47C4-9F09-793F6D48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5F59D83-7C45-4E7D-9B4B-238303F4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E8D3E66-1086-4AC8-87D8-AF2E0102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LIVE DEMO PLAN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15EF2-F8AE-4BFF-B264-ECEFFE8E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In the final minute, show the browser workbench instead of static screenshots.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214B17-EBE0-4CD9-B64D-8A658E3C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98BC10-5BA6-412D-8DD0-4ECB9145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CB01C3-E115-47F6-AED9-0F45B7498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CC5E1F-0C44-479A-91E6-1F88B294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1145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Source 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9BA0E6-7434-48CC-B702-1F52FEBB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1460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the preloaded source packet and run extraction.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108D00-A2B8-47BC-A1AF-24E031B7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4310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44939E-3ABC-40AE-AB2A-40871281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145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Scenario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9DC53D-556A-4E85-BB26-32832596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1460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that constraints are editable and require analyst approval.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7C04E1-8D0A-4FD1-AE85-A345BF91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821EC6-62A8-4C60-A2CF-2D8FD7E9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Ledger + evaluation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7F4F5C-1E0F-4051-959C-3852D0AB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8145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Filter suspicious chains, then show baseline comparison.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D6E019-B593-418F-93C2-6E94557C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995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5D2B97-475B-46A4-B450-FDA7DBDC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814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6C5BF9-A0F3-4788-AE42-C0AE2FAD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8145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the guided CSV, baseline CSV, and evaluation JSON package.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76F897-03DA-4843-A41E-856A7AD5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00650"/>
            <a:ext cx="7086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0C744-9838-48CC-A93A-6C0B3919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314950"/>
            <a:ext cx="582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CLICK HERE FOR LIVE BROWSER DEMO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2EEFB3-51FF-4ADD-9C86-9916A981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886450"/>
            <a:ext cx="826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0E7C66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https://raw.githack.com/yq688m3JT/genAI_final/ae9c84ea574e9f8c48c84f1863ce82f77ea4f24e/docs/demo.html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9437599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2026-05-11T13:26:39.4190000Z</dcterms:created>
  <dcterms:modified xsi:type="dcterms:W3CDTF">2026-05-11T13:26:39.4190000Z</dcterms:modified>
</coreProperties>
</file>