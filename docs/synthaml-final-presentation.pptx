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a6e2574df304051" /><Relationship Type="http://schemas.openxmlformats.org/officeDocument/2006/relationships/extended-properties" Target="/docProps/app.xml" Id="R07debd2e801545ef" /><Relationship Type="http://schemas.openxmlformats.org/officeDocument/2006/relationships/officeDocument" Target="/ppt/presentation.xml" Id="R7e185ac001c847f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cf91f72f57f45be"/>
  </p:sldMasterIdLst>
  <p:notesMasterIdLst>
    <p:notesMasterId xmlns:r="http://schemas.openxmlformats.org/officeDocument/2006/relationships" r:id="R201c168304a4495f"/>
  </p:notesMasterIdLst>
  <p:sldIdLst>
    <p:sldId xmlns:r="http://schemas.openxmlformats.org/officeDocument/2006/relationships" id="256" r:id="R23a6d68145cf40f9"/>
    <p:sldId xmlns:r="http://schemas.openxmlformats.org/officeDocument/2006/relationships" id="257" r:id="R2caec95f6dc841d8"/>
    <p:sldId xmlns:r="http://schemas.openxmlformats.org/officeDocument/2006/relationships" id="258" r:id="R2726d5cdae34490d"/>
    <p:sldId xmlns:r="http://schemas.openxmlformats.org/officeDocument/2006/relationships" id="259" r:id="R115878e6c43c4ada"/>
    <p:sldId xmlns:r="http://schemas.openxmlformats.org/officeDocument/2006/relationships" id="260" r:id="R21c1ee68fcd04685"/>
    <p:sldId xmlns:r="http://schemas.openxmlformats.org/officeDocument/2006/relationships" id="261" r:id="R9a8101ce993149cb"/>
    <p:sldId xmlns:r="http://schemas.openxmlformats.org/officeDocument/2006/relationships" id="262" r:id="R7c866245b0b1480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f91f72f57f45be" /><Relationship Type="http://schemas.openxmlformats.org/officeDocument/2006/relationships/theme" Target="/ppt/theme/theme1.xml" Id="R47941c5b645e4c5a" /><Relationship Type="http://schemas.openxmlformats.org/officeDocument/2006/relationships/notesMaster" Target="/ppt/notesMasters/notesMaster1.xml" Id="R201c168304a4495f" /><Relationship Type="http://schemas.openxmlformats.org/officeDocument/2006/relationships/presProps" Target="/ppt/presProps.xml" Id="R6d8026852af64655" /><Relationship Type="http://schemas.openxmlformats.org/officeDocument/2006/relationships/viewProps" Target="/ppt/viewProps.xml" Id="R633b8201aee344be" /><Relationship Type="http://schemas.openxmlformats.org/officeDocument/2006/relationships/tableStyles" Target="/ppt/tableStyles.xml" Id="R6e77736a0aa241d7" /><Relationship Type="http://schemas.openxmlformats.org/officeDocument/2006/relationships/slide" Target="/ppt/slides/slide1.xml" Id="R23a6d68145cf40f9" /><Relationship Type="http://schemas.openxmlformats.org/officeDocument/2006/relationships/slide" Target="/ppt/slides/slide2.xml" Id="R2caec95f6dc841d8" /><Relationship Type="http://schemas.openxmlformats.org/officeDocument/2006/relationships/slide" Target="/ppt/slides/slide3.xml" Id="R2726d5cdae34490d" /><Relationship Type="http://schemas.openxmlformats.org/officeDocument/2006/relationships/slide" Target="/ppt/slides/slide4.xml" Id="R115878e6c43c4ada" /><Relationship Type="http://schemas.openxmlformats.org/officeDocument/2006/relationships/slide" Target="/ppt/slides/slide5.xml" Id="R21c1ee68fcd04685" /><Relationship Type="http://schemas.openxmlformats.org/officeDocument/2006/relationships/slide" Target="/ppt/slides/slide6.xml" Id="R9a8101ce993149cb" /><Relationship Type="http://schemas.openxmlformats.org/officeDocument/2006/relationships/slide" Target="/ppt/slides/slide7.xml" Id="R7c866245b0b148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3321fe86e74423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77e5533cc914421" /><Relationship Type="http://schemas.openxmlformats.org/officeDocument/2006/relationships/notesMaster" Target="/ppt/notesMasters/notesMaster1.xml" Id="Rd0893b5e4232491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9b449c193f644eb" /><Relationship Type="http://schemas.openxmlformats.org/officeDocument/2006/relationships/notesMaster" Target="/ppt/notesMasters/notesMaster1.xml" Id="Rd6aba59fffad459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4cab3e2ad85458c" /><Relationship Type="http://schemas.openxmlformats.org/officeDocument/2006/relationships/notesMaster" Target="/ppt/notesMasters/notesMaster1.xml" Id="Ra0c1a86d4cf9434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7ad057ae1a24c9c" /><Relationship Type="http://schemas.openxmlformats.org/officeDocument/2006/relationships/notesMaster" Target="/ppt/notesMasters/notesMaster1.xml" Id="R841aab57d5c7401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9734caf65864eb1" /><Relationship Type="http://schemas.openxmlformats.org/officeDocument/2006/relationships/notesMaster" Target="/ppt/notesMasters/notesMaster1.xml" Id="Re5ef65978d5644c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bb01ed121794468" /><Relationship Type="http://schemas.openxmlformats.org/officeDocument/2006/relationships/notesMaster" Target="/ppt/notesMasters/notesMaster1.xml" Id="R82032aa524594fc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f2941ad8ee24c1b" /><Relationship Type="http://schemas.openxmlformats.org/officeDocument/2006/relationships/notesMaster" Target="/ppt/notesMasters/notesMaster1.xml" Id="R820b20a3796b435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807af072aa4510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5ca764da4b1c4478" /><Relationship Type="http://schemas.openxmlformats.org/officeDocument/2006/relationships/slideLayout" Target="/ppt/slideLayouts/slideLayout2.xml" Id="Raac3433f383a47f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ac3433f383a47f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d273280a3b545e8" /><Relationship Type="http://schemas.openxmlformats.org/officeDocument/2006/relationships/notesSlide" Target="/ppt/notesSlides/notesSlide1.xml" Id="Re6b84c8b52474ed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ba7c54522f4bea" /><Relationship Type="http://schemas.openxmlformats.org/officeDocument/2006/relationships/notesSlide" Target="/ppt/notesSlides/notesSlide2.xml" Id="Rfe21ff4fc801439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6f4474273534b54" /><Relationship Type="http://schemas.openxmlformats.org/officeDocument/2006/relationships/notesSlide" Target="/ppt/notesSlides/notesSlide3.xml" Id="Rf5fa8ba90ddd486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ab1ddb6a9f40a6" /><Relationship Type="http://schemas.openxmlformats.org/officeDocument/2006/relationships/notesSlide" Target="/ppt/notesSlides/notesSlide4.xml" Id="Re811868755364fd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36135b49be4d27" /><Relationship Type="http://schemas.openxmlformats.org/officeDocument/2006/relationships/image" Target="/ppt/media/image.png" Id="R33d2c67180274251" /><Relationship Type="http://schemas.openxmlformats.org/officeDocument/2006/relationships/notesSlide" Target="/ppt/notesSlides/notesSlide5.xml" Id="R08baf7d755c6464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94815c96a714e1c" /><Relationship Type="http://schemas.openxmlformats.org/officeDocument/2006/relationships/image" Target="/ppt/media/image2.png" Id="R42bb36011efc400a" /><Relationship Type="http://schemas.openxmlformats.org/officeDocument/2006/relationships/notesSlide" Target="/ppt/notesSlides/notesSlide6.xml" Id="Rd2b1dc7f6a8d447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633088805954855" /><Relationship Type="http://schemas.openxmlformats.org/officeDocument/2006/relationships/image" Target="/ppt/media/image3.png" Id="R2172a090b35742bc" /><Relationship Type="http://schemas.openxmlformats.org/officeDocument/2006/relationships/notesSlide" Target="/ppt/notesSlides/notesSlide7.xml" Id="R057dee209067434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402CD6-3CA4-461C-8D99-829B971F1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0E6B11-CA0C-4673-A65D-8EAC71CF2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BB873B-5308-4A04-9FF1-A6DC5F91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43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4E7DD"/>
                </a:solidFill>
                <a:latin typeface="Aptos"/>
                <a:ea typeface="Aptos"/>
                <a:cs typeface="Aptos"/>
              </a:rPr>
              <a:t>FINAL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E45B50-6AD5-4DBA-B585-71C5E0127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609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48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SynthAML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A70026-6E78-437F-966C-9509D36E7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7429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D4E7DD"/>
                </a:solidFill>
                <a:latin typeface="Aptos"/>
                <a:ea typeface="Aptos"/>
                <a:cs typeface="Aptos"/>
              </a:rPr>
              <a:t>A commercial-style GenAI workbench for turning AML typology warnings into synthetic transaction test data.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B02579-DA4B-45B2-9DE7-004F5ED07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704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4D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E465C7-4038-4BE4-97BF-940D99261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User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FA9CA7-240E-4D46-8BE1-9CF6C8C4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AML model teams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5057BB-A355-473D-A3B1-F89D7FFD2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F820B9-0460-4ABF-B247-F33112DDA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Typology intake to QA export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66A758-FCD1-439A-BB6C-D21C1B7B7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D0D94C-78F2-48F0-AA41-CF01A9106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Guided data vs threshold 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F89F77-A293-4CC2-A373-18D76481F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25730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6381EF-1CC8-49A4-8124-B3A758B76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695450"/>
            <a:ext cx="1200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111D32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111D32"/>
                </a:solidFill>
                <a:latin typeface="Aptos Display"/>
                <a:ea typeface="Aptos Display"/>
                <a:cs typeface="Aptos Display"/>
              </a:rPr>
              <a:t>SA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3FE6B1-93CA-4596-A99F-CFE8E6576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90800"/>
            <a:ext cx="1600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Defensive synthetic data only</a:t>
            </a:r>
          </a:p>
          <a:p xmlns:a="http://schemas.openxmlformats.org/drawingml/2006/main">
            <a:pPr algn="ctr">
              <a:defRPr sz="1125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Human review required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94ED7E-8ADB-4D67-AE57-64F68B57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4E7DD"/>
                </a:solidFill>
                <a:latin typeface="Aptos"/>
                <a:ea typeface="Aptos"/>
                <a:cs typeface="Aptos"/>
              </a:rPr>
              <a:t>2-minute presentation + 1-minute demo</a:t>
            </a:r>
          </a:p>
        </p:txBody>
      </p:sp>
    </p:spTree>
    <p:extLst>
      <p:ext uri="{BB962C8B-B14F-4D97-AF65-F5344CB8AC3E}">
        <p14:creationId xmlns:p14="http://schemas.microsoft.com/office/powerpoint/2010/main" val="12137338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7AE232-188F-4F79-A33D-CD7179FAA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EF2D1263-0FE5-4D4D-87CC-D3EDEB9CD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E8729760-685E-4076-B1B7-7E57F157F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B62EA4-4833-4C11-9FDC-55F3253D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33450"/>
            <a:ext cx="8572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New AML typologies create a data cold start before models can learn the pattern.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B983C7-D5BB-4742-9EFE-B8AC75400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0030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Target user: AML algorithm engineers and compliance data scientists at cross-border payment firms.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150BDA-8F84-41D2-B8D4-56FCFF057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774D79-7B73-4001-B32D-CA0681040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F2E549-BFAC-4E5E-B08E-8ED788BC7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Regulator warning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34D4EB-7709-4AC2-A371-35470E907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A prose report describes a new shell-company trade pattern.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AD3C56-6F10-45D9-AB5D-5DF0D8F83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2862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A6B6E9-3653-40AF-A76B-6F36E91F3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219575"/>
            <a:ext cx="1143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4D6DB3-D00E-4D0B-A479-DF0DDC2C0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1B84DD-5202-49BB-A527-D80A8D962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6FF791-3020-4791-B9DD-81D9AF566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 labels yet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9B0BA6-F663-4C72-B478-3FB2022C7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The bank has no historical examples for the typology.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42C7D1-E057-479B-84F5-17280A64D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2862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4B866F-173A-4ED8-8DBC-8364A2BFB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4219575"/>
            <a:ext cx="1143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14F57B-77B4-499C-8756-71643C22B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366DC7-110A-490A-AAC3-3818CDE32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7A9399-FD17-412F-A5CF-A27D12111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Model blind spot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C89064-772C-456A-BAD0-3AFAA626D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Threshold rules miss behavior spread across a transaction chain.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048323-F44B-4F2B-8D76-6C8E0CC9C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047750"/>
            <a:ext cx="17907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269E71-8517-4E05-BA0E-AF7887EEA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314450"/>
            <a:ext cx="114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495AD7-8AFD-413C-99FF-B7620B971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657350"/>
            <a:ext cx="13716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days,</a:t>
            </a:r>
          </a:p>
          <a:p xmlns:a="http://schemas.openxmlformats.org/drawingml/2006/main">
            <a:pPr algn="ctr">
              <a:def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not months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C2E56D-A757-4470-A9D0-45D07BE27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F0F783-F9A4-455A-B6BF-87CE67CF1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SynthAML final project | 1</a:t>
            </a:r>
          </a:p>
        </p:txBody>
      </p:sp>
    </p:spTree>
    <p:extLst>
      <p:ext uri="{BB962C8B-B14F-4D97-AF65-F5344CB8AC3E}">
        <p14:creationId xmlns:p14="http://schemas.microsoft.com/office/powerpoint/2010/main" val="146856178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937CC4-5C12-41AF-A175-83B3F52A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BE4327C2-DB61-4B1F-B0CB-B3D1713A8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6F3FA078-1177-4E1C-B601-3E6D70E0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A8C972-BA8A-4305-95E2-3DFBA92A8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8953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SynthAML converts a warning into structured constraints, then into labeled synthetic chains.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2B97EE-A6CB-462C-B2A1-8B39BD6D8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FA7461-A49B-41CB-A4DF-7F1A31958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SynthAML final project | 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0C0C5B-8722-45D6-A6A0-F998A0079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EE1B99-AE9D-4CB1-BA63-3EF2D0309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401E3D-E4DF-431A-8B7E-B9FF2AC25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Paste warning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35A6CB-C40B-4BD0-8573-D1D976C1C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Regulatory prose or short case description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63ACA7-30ED-41AA-9390-1C39CA305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2095F1-87FA-4677-9823-CF35F2E4F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3C7518-4B4E-4849-A162-7EAFC283C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F78E75-D8C4-49F2-BE19-640739122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E7C66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E7C66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F5E4B2-2179-41C0-A039-53601D7D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Extract typology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1C4923-1E61-4DB9-A5D9-0014D9D17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Industry, regions, amount range, timing, narratives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3838F1-C14D-4A85-BE29-03E6FCE16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1ECF09-81F0-4108-B6EB-24A77DEE9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B92D8E-4BE1-4A5B-8D87-0C3849CDD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859A9A-A328-4EF6-96EE-3A3E4DD7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519905-B54A-41B9-9C8A-2898839A9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Generate chains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00C649-5AEF-4364-93A1-687A2530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Funding transfer plus rapid split payments with noise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8D5E4B-790C-4F16-9B89-A3D56D23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FE1238-390A-494E-ACE9-58FAF1C65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A80790-C6B9-4ACB-93AD-9E5BCDDF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4382FB-5A69-4E21-920F-87AD4A5A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C44536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C44536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AC34AD8-17A8-4797-8F59-160CD0ED0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Export results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BAFC14-DC58-4054-8531-B913B7A0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Conservation checks, baseline comparison, CSV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CA50CB-A479-4918-9326-B0F6FB72E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19700"/>
            <a:ext cx="9353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Design choice: the GenAI step is the translation from unstructured compliance prose into structured generation constraints. A deterministic fallback keeps grading reproducible without an API key.</a:t>
            </a:r>
          </a:p>
        </p:txBody>
      </p:sp>
    </p:spTree>
    <p:extLst>
      <p:ext uri="{BB962C8B-B14F-4D97-AF65-F5344CB8AC3E}">
        <p14:creationId xmlns:p14="http://schemas.microsoft.com/office/powerpoint/2010/main" val="192435513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788702-4BA9-456C-9FB1-31F00C4DE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EEF8ACD8-624E-4C0E-8407-23E53505C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EDC204CB-E80C-48B4-AFE8-EC547A0B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A93281-D3CB-451E-96BF-79C51403F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933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Guided chain-style training data beat the threshold baseline on hidden typology recall.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9309FC-22C3-47E4-8B85-9758F89F9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A68A79-1A19-428B-BFAD-94D35C3F3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Source: examples/sample_outputs/evaluation_summary.json |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6DCC5B-7968-4277-9D29-AC39ACFC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71700"/>
            <a:ext cx="457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E6A61"/>
                </a:solidFill>
                <a:latin typeface="Aptos"/>
                <a:ea typeface="Aptos"/>
                <a:cs typeface="Aptos"/>
              </a:rPr>
              <a:t>F1 score on hidden guided test set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E436AE-BF3D-4449-8520-FB0A49D1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SynthAML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3C6CD6-EE0B-4739-8DB0-A105AAFF7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0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77FD6B-F95D-4E03-8CE1-0E9E8ABCA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359CC0-65B2-4D76-B7C6-D06805692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765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1.000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C890A7-AD8A-4004-AF9B-6BAEE3397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EF2E39-2A39-4064-AD9D-E61B191F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623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0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1F7716-A328-4B54-9851-97EAFDD1C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62350"/>
            <a:ext cx="108013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D41934-1036-4EA7-96E0-BFA968683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5147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453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44536"/>
                </a:solidFill>
                <a:latin typeface="Aptos"/>
                <a:ea typeface="Aptos"/>
                <a:cs typeface="Aptos"/>
              </a:rPr>
              <a:t>0.189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1F11BC-70FE-43F9-8320-43262DC85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91050"/>
            <a:ext cx="815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57968C-9ABE-45D2-9ED7-61C93C026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3143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What counted as good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FE43FE-6212-4484-8BDD-A3233C3B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82EC8C-A9F3-4285-B11D-53BAAB768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Chains preserve fund conservation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4E5914-FD2A-4E7A-B27E-4F4589D4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6B65ED-5107-46B8-AFC2-BCA6115A3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Suspicious activity is not just a large amount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3B2481-E619-4F45-9AE5-0C0C3D3B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774143-4165-42E4-AA4D-2A54F579D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Human reviewer can inspect constraints and records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53456B-D375-4DC9-A5E6-F7D302557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62200"/>
            <a:ext cx="15621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22F534-6F44-4195-ABC6-6E0F13B54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19375"/>
            <a:ext cx="91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Recall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BCE909-EA7C-423C-B78C-9BD21BBA9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990850"/>
            <a:ext cx="1143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1.000</a:t>
            </a:r>
          </a:p>
          <a:p xmlns:a="http://schemas.openxmlformats.org/drawingml/2006/main">
            <a:pPr algn="ctr">
              <a:def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vs 0.110</a:t>
            </a:r>
          </a:p>
        </p:txBody>
      </p:sp>
    </p:spTree>
    <p:extLst>
      <p:ext uri="{BB962C8B-B14F-4D97-AF65-F5344CB8AC3E}">
        <p14:creationId xmlns:p14="http://schemas.microsoft.com/office/powerpoint/2010/main" val="188691268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6B99EC-AFE3-4242-9B98-6C9B1F8DA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892DA674-F561-429A-92CF-65D4BAAF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DD9C36B3-8EFA-433B-9A61-AAF7678F2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UI WALKTHROUGH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DCDAE4-FCA0-4149-A017-321204019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reviewer starts by pasting a warning and checking the extracted scenario brief.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6A4207-3774-461B-80E6-8088366F3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C5C50B-7358-4723-88FC-95F849C8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4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d2c67180274251"/>
          <a:stretch xmlns:a="http://schemas.openxmlformats.org/drawingml/2006/main"/>
        </p:blipFill>
        <p:spPr>
          <a:xfrm xmlns:a="http://schemas.openxmlformats.org/drawingml/2006/main">
            <a:off x="2201333" y="1714500"/>
            <a:ext cx="7789333" cy="438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DCBCE5-80A6-4EB0-A75B-61785D82F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714500"/>
            <a:ext cx="77914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6566449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D93479-1D6F-4E0C-ADBC-0DAA6D168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8A1E8CFC-65C5-4D92-94EE-25A2DA54C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C1661BC5-E51C-4A7A-92EB-34B30DAA7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UI WALKTHROUGH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7F49F7-D662-4195-B06D-AD7D7EE30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evaluation tab compares SynthAML’s guided data against the simple baseline.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CA7223-7F87-41EE-B0C4-B212C9AD6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18F8A7-3D7D-4812-8851-0D86DBBF6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5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bb36011efc400a"/>
          <a:stretch xmlns:a="http://schemas.openxmlformats.org/drawingml/2006/main"/>
        </p:blipFill>
        <p:spPr>
          <a:xfrm xmlns:a="http://schemas.openxmlformats.org/drawingml/2006/main">
            <a:off x="2201333" y="1714500"/>
            <a:ext cx="7789333" cy="438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3F1090-CA28-45BB-ADE3-E6B56D36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714500"/>
            <a:ext cx="77914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9061676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F800DDD-842C-41EF-AEC2-CB8FDB66F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1AB5AE97-D729-4FE5-82FD-72C8CD821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C172AE43-2020-4396-9A4E-61B12FB95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UI WALKTHROUGH 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168180-09F9-497E-BE38-D882EE294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export package gives the user guided data, baseline data, and evaluation JSON.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84AA4F-381B-499B-9553-3AB63CB0E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279386-6FE2-4537-91D0-0B145D75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6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72a090b35742bc"/>
          <a:stretch xmlns:a="http://schemas.openxmlformats.org/drawingml/2006/main"/>
        </p:blipFill>
        <p:spPr>
          <a:xfrm xmlns:a="http://schemas.openxmlformats.org/drawingml/2006/main">
            <a:off x="2201333" y="1714500"/>
            <a:ext cx="7789333" cy="438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B6D656-D060-4EB2-843F-EE529A44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714500"/>
            <a:ext cx="77914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2BD473-F0E7-40A3-8E39-499B609BF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657850"/>
            <a:ext cx="3486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976DE6-4562-455D-98B9-1E8280F78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724525"/>
            <a:ext cx="3067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No live app is required during presentation.</a:t>
            </a:r>
          </a:p>
        </p:txBody>
      </p:sp>
    </p:spTree>
    <p:extLst>
      <p:ext uri="{BB962C8B-B14F-4D97-AF65-F5344CB8AC3E}">
        <p14:creationId xmlns:p14="http://schemas.microsoft.com/office/powerpoint/2010/main" val="6230689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2026-05-11T09:51:34.4680000Z</dcterms:created>
  <dcterms:modified xsi:type="dcterms:W3CDTF">2026-05-11T09:51:34.4680000Z</dcterms:modified>
</coreProperties>
</file>