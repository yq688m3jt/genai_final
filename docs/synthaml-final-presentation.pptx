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6cf9b82add4423a" /><Relationship Type="http://schemas.openxmlformats.org/officeDocument/2006/relationships/extended-properties" Target="/docProps/app.xml" Id="R997edf1b25314bab" /><Relationship Type="http://schemas.openxmlformats.org/officeDocument/2006/relationships/officeDocument" Target="/ppt/presentation.xml" Id="R63e14629b6974f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e6f890fa9384593"/>
  </p:sldMasterIdLst>
  <p:notesMasterIdLst>
    <p:notesMasterId xmlns:r="http://schemas.openxmlformats.org/officeDocument/2006/relationships" r:id="Rf25671dfc2394762"/>
  </p:notesMasterIdLst>
  <p:sldIdLst>
    <p:sldId xmlns:r="http://schemas.openxmlformats.org/officeDocument/2006/relationships" id="256" r:id="R0035b99a207b424e"/>
    <p:sldId xmlns:r="http://schemas.openxmlformats.org/officeDocument/2006/relationships" id="257" r:id="R6d1187d171d24fac"/>
    <p:sldId xmlns:r="http://schemas.openxmlformats.org/officeDocument/2006/relationships" id="258" r:id="R6cabef28a90d42aa"/>
    <p:sldId xmlns:r="http://schemas.openxmlformats.org/officeDocument/2006/relationships" id="259" r:id="R29add05c989c48f1"/>
    <p:sldId xmlns:r="http://schemas.openxmlformats.org/officeDocument/2006/relationships" id="260" r:id="R28af71680ed7411a"/>
    <p:sldId xmlns:r="http://schemas.openxmlformats.org/officeDocument/2006/relationships" id="261" r:id="R5a865afc304d4ebb"/>
    <p:sldId xmlns:r="http://schemas.openxmlformats.org/officeDocument/2006/relationships" id="262" r:id="Rb7309ce35f53464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6f890fa9384593" /><Relationship Type="http://schemas.openxmlformats.org/officeDocument/2006/relationships/theme" Target="/ppt/theme/theme1.xml" Id="R03dca9fae8374761" /><Relationship Type="http://schemas.openxmlformats.org/officeDocument/2006/relationships/notesMaster" Target="/ppt/notesMasters/notesMaster1.xml" Id="Rf25671dfc2394762" /><Relationship Type="http://schemas.openxmlformats.org/officeDocument/2006/relationships/presProps" Target="/ppt/presProps.xml" Id="R4e769afe5d3942f2" /><Relationship Type="http://schemas.openxmlformats.org/officeDocument/2006/relationships/viewProps" Target="/ppt/viewProps.xml" Id="R739a4f517cb44f06" /><Relationship Type="http://schemas.openxmlformats.org/officeDocument/2006/relationships/tableStyles" Target="/ppt/tableStyles.xml" Id="R6581ceead03d4a12" /><Relationship Type="http://schemas.openxmlformats.org/officeDocument/2006/relationships/slide" Target="/ppt/slides/slide1.xml" Id="R0035b99a207b424e" /><Relationship Type="http://schemas.openxmlformats.org/officeDocument/2006/relationships/slide" Target="/ppt/slides/slide2.xml" Id="R6d1187d171d24fac" /><Relationship Type="http://schemas.openxmlformats.org/officeDocument/2006/relationships/slide" Target="/ppt/slides/slide3.xml" Id="R6cabef28a90d42aa" /><Relationship Type="http://schemas.openxmlformats.org/officeDocument/2006/relationships/slide" Target="/ppt/slides/slide4.xml" Id="R29add05c989c48f1" /><Relationship Type="http://schemas.openxmlformats.org/officeDocument/2006/relationships/slide" Target="/ppt/slides/slide5.xml" Id="R28af71680ed7411a" /><Relationship Type="http://schemas.openxmlformats.org/officeDocument/2006/relationships/slide" Target="/ppt/slides/slide6.xml" Id="R5a865afc304d4ebb" /><Relationship Type="http://schemas.openxmlformats.org/officeDocument/2006/relationships/slide" Target="/ppt/slides/slide7.xml" Id="Rb7309ce35f5346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ff1508a84bd43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67d6b7a3f844633" /><Relationship Type="http://schemas.openxmlformats.org/officeDocument/2006/relationships/notesMaster" Target="/ppt/notesMasters/notesMaster1.xml" Id="R02bc4ec50b584ae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1090fb089144a00" /><Relationship Type="http://schemas.openxmlformats.org/officeDocument/2006/relationships/notesMaster" Target="/ppt/notesMasters/notesMaster1.xml" Id="R0e1a3d688c3946e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e538fc1e82a4365" /><Relationship Type="http://schemas.openxmlformats.org/officeDocument/2006/relationships/notesMaster" Target="/ppt/notesMasters/notesMaster1.xml" Id="Reea6ff4c1251482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6f584955fec42fe" /><Relationship Type="http://schemas.openxmlformats.org/officeDocument/2006/relationships/notesMaster" Target="/ppt/notesMasters/notesMaster1.xml" Id="R2040965189c14ce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42fc392e859404b" /><Relationship Type="http://schemas.openxmlformats.org/officeDocument/2006/relationships/notesMaster" Target="/ppt/notesMasters/notesMaster1.xml" Id="Rc95c5481f6174c0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b2826064af7442b" /><Relationship Type="http://schemas.openxmlformats.org/officeDocument/2006/relationships/notesMaster" Target="/ppt/notesMasters/notesMaster1.xml" Id="R8efcc50f2bae4d2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4d59cb1dcc4b2e" /><Relationship Type="http://schemas.openxmlformats.org/officeDocument/2006/relationships/notesMaster" Target="/ppt/notesMasters/notesMaster1.xml" Id="Rf8613c353fdc4d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42facb6be64f21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9de50118cf5f486c" /><Relationship Type="http://schemas.openxmlformats.org/officeDocument/2006/relationships/slideLayout" Target="/ppt/slideLayouts/slideLayout2.xml" Id="Rabd232a2580f446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bd232a2580f446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d388c8d1a14938" /><Relationship Type="http://schemas.openxmlformats.org/officeDocument/2006/relationships/notesSlide" Target="/ppt/notesSlides/notesSlide1.xml" Id="Rd398a6c588f44358" /><Relationship Type="http://schemas.openxmlformats.org/officeDocument/2006/relationships/hyperlink" Target="https://rawcdn.githack.com/yq688m3JT/genAI_final/fa4ed4cc3ab6dd13d10fa40e40ec5e6036816755/docs/demo.html" TargetMode="External" Id="rIdSynthAMLDemo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bd48c1f75040a8" /><Relationship Type="http://schemas.openxmlformats.org/officeDocument/2006/relationships/notesSlide" Target="/ppt/notesSlides/notesSlide2.xml" Id="Racdf241da921425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321bf843e324c32" /><Relationship Type="http://schemas.openxmlformats.org/officeDocument/2006/relationships/notesSlide" Target="/ppt/notesSlides/notesSlide3.xml" Id="Rc5a684930e7844f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86afaa26874fa1" /><Relationship Type="http://schemas.openxmlformats.org/officeDocument/2006/relationships/notesSlide" Target="/ppt/notesSlides/notesSlide4.xml" Id="R6001b65a24704bc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6a2ee6df354ac1" /><Relationship Type="http://schemas.openxmlformats.org/officeDocument/2006/relationships/image" Target="/ppt/media/image.png" Id="Ra35b5d37a0c74524" /><Relationship Type="http://schemas.openxmlformats.org/officeDocument/2006/relationships/notesSlide" Target="/ppt/notesSlides/notesSlide5.xml" Id="R97ed243ddf18410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cc709b3ca441d4" /><Relationship Type="http://schemas.openxmlformats.org/officeDocument/2006/relationships/image" Target="/ppt/media/image2.png" Id="Reba701fc9b234190" /><Relationship Type="http://schemas.openxmlformats.org/officeDocument/2006/relationships/notesSlide" Target="/ppt/notesSlides/notesSlide6.xml" Id="R4ed84a2417ff4e8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4cd207f1044a48" /><Relationship Type="http://schemas.openxmlformats.org/officeDocument/2006/relationships/image" Target="/ppt/media/image3.png" Id="Rece9d1c75e994668" /><Relationship Type="http://schemas.openxmlformats.org/officeDocument/2006/relationships/notesSlide" Target="/ppt/notesSlides/notesSlide7.xml" Id="R57dd8db3b73b46d2" /><Relationship Type="http://schemas.openxmlformats.org/officeDocument/2006/relationships/hyperlink" Target="https://rawcdn.githack.com/yq688m3JT/genAI_final/fa4ed4cc3ab6dd13d10fa40e40ec5e6036816755/docs/demo.html" TargetMode="External" Id="rIdSynthAMLDemo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81DB7D-1D5F-4DF4-92C5-370E013B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780ABF-7F90-49B0-967D-B75F0CF1E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0466D0-6A31-4F0B-97EE-9368E5FA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4E7DD"/>
                </a:solidFill>
                <a:latin typeface="Aptos"/>
                <a:ea typeface="Aptos"/>
                <a:cs typeface="Aptos"/>
              </a:rPr>
              <a:t>FINAL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54C99D-E8FC-4497-90FE-5FDDC18B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609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SynthAML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CF14BE-BC60-4167-B8CC-1232F9AB6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7429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A commercial-style GenAI workbench for turning AML typology warnings into synthetic transaction test data.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611404-81CB-46A3-BBE5-924AD03B0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4D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B203FC-64F0-4C07-AEB8-4E8E76BA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User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45871D-66A4-4056-9FA9-8EB7AF0D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AML model teams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D26684-9984-48FD-B120-1C265C0FD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0366DA-2B04-4C19-97F0-D5FF66401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Typology intake to QA export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AB1572-47E2-45BE-860D-405F9D360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C11B7E-144D-4288-84D6-B5ADD49C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Guided data vs threshold 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A9E195-0C82-4B50-B710-BB30D673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25730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27F463-001A-4AFC-AAB7-D13E63E6F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695450"/>
            <a:ext cx="1200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rPr>
              <a:t>SA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EB7BA5-F160-4D5F-9A9D-7E9AA4112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90800"/>
            <a:ext cx="1600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Defensive synthetic data only</a:t>
            </a:r>
          </a:p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D002EA-92C8-4715-9A79-EC8B33E89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47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2-minute presentation + 1-minute browser demo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5013F2-6466-46C4-8905-62C85F73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89C27"/>
                </a:solidFill>
                <a:latin typeface="Aptos"/>
                <a:ea typeface="Aptos"/>
                <a:cs typeface="Aptos"/>
                <a:hlinkClick xmlns:r="http://schemas.openxmlformats.org/officeDocument/2006/relationships" r:id="rIdSynthAMLDemo"/>
              </a:rPr>
              <a:t>https://rawcdn.githack.com/yq688m3JT/genAI_final/fa4ed4cc3ab6dd13d10fa40e40ec5e6036816755/docs/demo.html</a:t>
            </a:r>
          </a:p>
        </p:txBody>
      </p:sp>
    </p:spTree>
    <p:extLst>
      <p:ext uri="{BB962C8B-B14F-4D97-AF65-F5344CB8AC3E}">
        <p14:creationId xmlns:p14="http://schemas.microsoft.com/office/powerpoint/2010/main" val="112925276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4E32C5F-0E66-4E2F-8DC6-316DB7287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24890243-982F-400A-ADEB-DCE1EE47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7374A4DD-443B-4BFE-BA2D-F9A9915D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E44901-93E9-4702-B4B5-EDE234B5F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"/>
            <a:ext cx="8572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New AML typologies create a data cold start before models can learn the pattern.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3543D3-F7AF-46AF-AE66-8951887A2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Target user: AML algorithm engineers and compliance data scientists at cross-border payment firms.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A79666-0880-4D11-994D-496F056C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587A9B-73C9-4859-B2EA-1E228DAD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6B1AB3-39DD-4951-A8DA-E4E71D71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Regulator warning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095367-0FE4-4C03-9321-DED37D67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A prose report describes a new shell-company trade pattern.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B18DDC-FF28-45D8-A298-C172639A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C270B0-256E-40D1-BFDC-7872B2D0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5B6AE1-FE6B-4E9E-A8E3-8102071D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4D14EF-0FA1-4B46-B4A3-A359D8C09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90225C-947B-416B-B0DA-42238B19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labels yet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07DF90-5B4D-4E25-998E-4610BB99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The bank has no historical examples for the typology.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563FD-AC51-490B-92FC-3567C1A2E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616A21-0C0C-4EDE-BC90-9A905C792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DF37B5-9E99-4F17-AD2E-488F8B624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B2CF9C-6201-4F47-816A-6E872AA88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3DE2CB-F19C-4BF0-95FE-FA78D5DA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Model blind spot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2FC0B6-1FBD-4572-B2DB-0E17F5E1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Threshold rules miss behavior spread across a transaction chain.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5DE240-C489-46F3-B0EF-CEF4061E3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047750"/>
            <a:ext cx="17907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8C3DCD-8CB5-40B2-AEB6-1CCCBC78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31445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B0F4BC-AA6E-4F5B-96CE-0876ACBA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657350"/>
            <a:ext cx="1371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days,</a:t>
            </a:r>
          </a:p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not months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0102ED-E817-4398-AEA4-B9DDB6A4E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3F76DC-A6D0-489A-BA89-66C1EDCA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1</a:t>
            </a:r>
          </a:p>
        </p:txBody>
      </p:sp>
    </p:spTree>
    <p:extLst>
      <p:ext uri="{BB962C8B-B14F-4D97-AF65-F5344CB8AC3E}">
        <p14:creationId xmlns:p14="http://schemas.microsoft.com/office/powerpoint/2010/main" val="119185072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D2942A7-5D91-44CB-9E3A-BD7DB24BF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B03F0EDB-D57A-4A76-A6AC-F0ECF2DA0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698E0811-3F78-4449-BBD9-6DD6C606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3FDE8B-8C75-45BB-A35E-21FA8581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8953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SynthAML converts a warning into structured constraints, then into labeled synthetic chains.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4813D6-C725-492C-98B5-667C244B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5BA9DC-431F-4281-B5C6-FB7F42F8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8AF221-C954-4375-A861-8CF3DBAD4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0B0903-7A16-45B3-9D14-5BBD36903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1BE1D7-AFE7-4422-89FA-01243C6C1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Paste warning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F35C37-5413-478D-9492-8B1C800F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Regulatory prose or short case description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2F2FDA-1331-456D-8A86-96CBD745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7B7205-CB2E-44CF-8089-D01814178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0A5104-F844-4C3A-A720-12CEB22B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9AF021-31B4-4BAF-A8CE-47FA7BC45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CF6330-815A-4866-BA66-1DFD3BD22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Extract typology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47B86F-BF91-44CA-81E0-F546E629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Industry, regions, amount range, timing, narratives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58891B-231E-49AE-BEF9-43D62EF4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89B166-CFB3-4ABB-8FAE-1A271D02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A989A3-BFE1-4AAE-B5D5-DF90AA959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BFA746-A4E4-49D5-B851-CA124BC7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338FD1-AF6F-4F65-8E54-5BED2B617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Generate chains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6433B6-53DA-4AA3-AE92-472715343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Funding transfer plus rapid split payments with noise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4DFFD0-F385-47C8-9A9E-8F8003942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6F386A-5B58-444C-B3EB-E0DA4BF7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F300ED-DCB5-4A06-B63F-4C53658BC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3834FA-4E5D-4DDB-BB85-2CB383F3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050B2B-3CC1-4965-9A05-E2238475A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Export results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258C98-98FA-40D7-B517-60E9746F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Conservation checks, baseline comparison, CSV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FAD033-C1A7-4594-BBD3-11DBEBFF8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9353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Design choice: the GenAI step is the translation from unstructured compliance prose into structured generation constraints. A deterministic fallback keeps grading reproducible without an API key.</a:t>
            </a:r>
          </a:p>
        </p:txBody>
      </p:sp>
    </p:spTree>
    <p:extLst>
      <p:ext uri="{BB962C8B-B14F-4D97-AF65-F5344CB8AC3E}">
        <p14:creationId xmlns:p14="http://schemas.microsoft.com/office/powerpoint/2010/main" val="76177006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228816-C0F8-4B9E-80B0-F8FC484FD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F2F940B0-A1B7-4C53-9C02-AF429FFD4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DEA610D-70A2-41A3-8E4E-89D37DE02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A1A6D2-29D3-4FA0-BF5E-3C2608683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933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Guided chain-style training data beat the threshold baseline on hidden typology recall.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E76947-2F4A-44B7-A392-9EC4AD385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122CB7-875A-4ABC-B762-36AD766B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Source: examples/sample_outputs/evaluation_summary.json |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2E2E31-24C4-441B-AD81-011E844A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71700"/>
            <a:ext cx="457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E6A61"/>
                </a:solidFill>
                <a:latin typeface="Aptos"/>
                <a:ea typeface="Aptos"/>
                <a:cs typeface="Aptos"/>
              </a:rPr>
              <a:t>F1 score on hidden guided test set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25BDE1-C025-440A-AD4F-72D13A2E5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SynthAML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0C4A3A-6063-4853-BD20-0B167C71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58299C-C3F9-4946-A3EE-BF93473F3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5021B3-CF14-4A23-80E5-284D2D730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765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1.000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7692B5-165C-4EBD-B746-102C3AC46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ACE1E4-5FA0-4451-A4A1-9DBF3E53A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3C961E-A454-492A-BA91-E387E96F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76009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DE807C-DF17-4453-9E19-D2B4EE3A1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147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45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44536"/>
                </a:solidFill>
                <a:latin typeface="Aptos"/>
                <a:ea typeface="Aptos"/>
                <a:cs typeface="Aptos"/>
              </a:rPr>
              <a:t>0.133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6F930F-5F88-4456-AB7C-63B361481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815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667241-FBF6-45E9-8351-DA787F7B1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What counted as good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689B89-8808-4A85-BF3F-EE2B9AA8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230C86-359B-4620-86FD-5C3347E2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Chains preserve fund conservation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84D4C2-732F-4A6B-ADCB-7563C48AB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D43B53-23E5-4E53-8563-2637A7A0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Suspicious activity is not just a large amount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2A2930-ED65-4295-9EF9-F412751F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AB8936-97B7-4D34-9D90-92E76CCA9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Human reviewer can inspect constraints and records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A9D98D-237E-4EFE-BC91-26A160BA0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62200"/>
            <a:ext cx="15621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7E04A4-5063-47AD-AC42-69F42A3E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19375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Recall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B306DF-9B76-4EDB-A059-4EBD22C35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990850"/>
            <a:ext cx="1143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1.000</a:t>
            </a:r>
          </a:p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vs 0.074</a:t>
            </a:r>
          </a:p>
        </p:txBody>
      </p:sp>
    </p:spTree>
    <p:extLst>
      <p:ext uri="{BB962C8B-B14F-4D97-AF65-F5344CB8AC3E}">
        <p14:creationId xmlns:p14="http://schemas.microsoft.com/office/powerpoint/2010/main" val="171050755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2F5B95-C758-4950-BFCC-94CC8EF91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9AFE4CEA-0E5C-47EF-81C2-C9609048E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19CD75A-347F-469F-8BBC-49A8C588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UI WALKTHROUGH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78E681-8F7B-4B9B-A46B-CDFE8126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reviewer starts by pasting a warning and checking the extracted scenario brief.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4E0F91-77F9-4E83-8DD3-BE6BB147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3E87E1-061A-4BA0-A8D6-6386BCEF5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4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5b5d37a0c74524"/>
          <a:stretch xmlns:a="http://schemas.openxmlformats.org/drawingml/2006/main"/>
        </p:blipFill>
        <p:spPr>
          <a:xfrm xmlns:a="http://schemas.openxmlformats.org/drawingml/2006/main">
            <a:off x="2959244" y="1714500"/>
            <a:ext cx="6273511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84B585-5A7E-4616-989E-1886EFF5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3947727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223DB3-143B-4762-9C6D-F27639D8A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C16F9A2-BA9D-4577-AF1F-5DDEA54C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899CB4BA-F29F-48C2-A123-E105B826C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UI WALKTHROUGH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83B115-6710-418A-94CA-851CD249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evaluation tab compares SynthAML’s guided data against the simple baseline.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74DEFA-10D8-4EAC-91E0-9411CFF4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A54436-D023-4835-A9A8-BF703E122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5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a701fc9b234190"/>
          <a:stretch xmlns:a="http://schemas.openxmlformats.org/drawingml/2006/main"/>
        </p:blipFill>
        <p:spPr>
          <a:xfrm xmlns:a="http://schemas.openxmlformats.org/drawingml/2006/main">
            <a:off x="2959244" y="1714500"/>
            <a:ext cx="6273511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998FA5-29E6-4DF6-B9FC-05DEB03C4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736263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A92CDD-AC1A-4068-B011-386E00CA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0F5D6597-123A-4E82-A59F-08DA1F89D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D2D999D6-109C-4351-AEAC-0219A2AC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CLICKABLE BROWSER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1C176D-31A4-4947-957A-EE670EF4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Open the static web demo from the slide, then show intake, data, evaluation, and export.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6804E3-7D3C-48BB-9708-1BCCC4804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7BF879-E279-4EFC-9830-A2663E226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6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e9d1c75e994668"/>
          <a:stretch xmlns:a="http://schemas.openxmlformats.org/drawingml/2006/main"/>
        </p:blipFill>
        <p:spPr>
          <a:xfrm xmlns:a="http://schemas.openxmlformats.org/drawingml/2006/main">
            <a:off x="2959244" y="1714500"/>
            <a:ext cx="6273511" cy="438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F0060E-8087-414C-B8CC-CCB449D0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714500"/>
            <a:ext cx="77914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9F219D-DD58-4230-B6AC-766FFEAE4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619750"/>
            <a:ext cx="533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40CBAD-CEEC-4FFA-A0C4-AB7EDC93F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705475"/>
            <a:ext cx="4533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CLICK HERE FOR BROWSER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D298F0-C435-4AAB-9B7F-7F1B0408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325" y="6115050"/>
            <a:ext cx="777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0E7C66"/>
                </a:solidFill>
                <a:latin typeface="Aptos"/>
                <a:ea typeface="Aptos"/>
                <a:cs typeface="Aptos"/>
                <a:hlinkClick xmlns:r="http://schemas.openxmlformats.org/officeDocument/2006/relationships" r:id="rIdSynthAMLDemo"/>
              </a:rPr>
              <a:t>https://rawcdn.githack.com/yq688m3JT/genAI_final/fa4ed4cc3ab6dd13d10fa40e40ec5e6036816755/docs/demo.html</a:t>
            </a:r>
          </a:p>
        </p:txBody>
      </p:sp>
    </p:spTree>
    <p:extLst>
      <p:ext uri="{BB962C8B-B14F-4D97-AF65-F5344CB8AC3E}">
        <p14:creationId xmlns:p14="http://schemas.microsoft.com/office/powerpoint/2010/main" val="12815099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2026-05-11T13:05:56.8150000Z</dcterms:created>
  <dcterms:modified xsi:type="dcterms:W3CDTF">2026-05-11T13:05:56.8150000Z</dcterms:modified>
</coreProperties>
</file>